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661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chemeClr val="tx1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chemeClr val="tx1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chemeClr val="tx1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057655"/>
            <a:ext cx="10058400" cy="565861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77952" y="1057655"/>
            <a:ext cx="927100" cy="4396740"/>
          </a:xfrm>
          <a:custGeom>
            <a:avLst/>
            <a:gdLst/>
            <a:ahLst/>
            <a:cxnLst/>
            <a:rect l="l" t="t" r="r" b="b"/>
            <a:pathLst>
              <a:path w="927100" h="4396740">
                <a:moveTo>
                  <a:pt x="204215" y="4396740"/>
                </a:moveTo>
                <a:lnTo>
                  <a:pt x="0" y="4361688"/>
                </a:lnTo>
                <a:lnTo>
                  <a:pt x="716279" y="0"/>
                </a:lnTo>
                <a:lnTo>
                  <a:pt x="926592" y="0"/>
                </a:lnTo>
                <a:lnTo>
                  <a:pt x="204215" y="4396740"/>
                </a:lnTo>
                <a:close/>
              </a:path>
            </a:pathLst>
          </a:custGeom>
          <a:solidFill>
            <a:srgbClr val="2F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4968" y="1057655"/>
            <a:ext cx="922019" cy="4354195"/>
          </a:xfrm>
          <a:custGeom>
            <a:avLst/>
            <a:gdLst/>
            <a:ahLst/>
            <a:cxnLst/>
            <a:rect l="l" t="t" r="r" b="b"/>
            <a:pathLst>
              <a:path w="922019" h="4354195">
                <a:moveTo>
                  <a:pt x="205740" y="4354067"/>
                </a:moveTo>
                <a:lnTo>
                  <a:pt x="0" y="4322063"/>
                </a:lnTo>
                <a:lnTo>
                  <a:pt x="713232" y="0"/>
                </a:lnTo>
                <a:lnTo>
                  <a:pt x="922019" y="0"/>
                </a:lnTo>
                <a:lnTo>
                  <a:pt x="205740" y="4354067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24968" y="5379719"/>
            <a:ext cx="1013460" cy="1336675"/>
          </a:xfrm>
          <a:custGeom>
            <a:avLst/>
            <a:gdLst/>
            <a:ahLst/>
            <a:cxnLst/>
            <a:rect l="l" t="t" r="r" b="b"/>
            <a:pathLst>
              <a:path w="1013460" h="1336675">
                <a:moveTo>
                  <a:pt x="1013459" y="1336548"/>
                </a:moveTo>
                <a:lnTo>
                  <a:pt x="969263" y="1336548"/>
                </a:lnTo>
                <a:lnTo>
                  <a:pt x="0" y="0"/>
                </a:lnTo>
                <a:lnTo>
                  <a:pt x="1013459" y="1336548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77952" y="5423915"/>
            <a:ext cx="1233170" cy="1292860"/>
          </a:xfrm>
          <a:custGeom>
            <a:avLst/>
            <a:gdLst/>
            <a:ahLst/>
            <a:cxnLst/>
            <a:rect l="l" t="t" r="r" b="b"/>
            <a:pathLst>
              <a:path w="1233170" h="1292859">
                <a:moveTo>
                  <a:pt x="1232915" y="1292351"/>
                </a:moveTo>
                <a:lnTo>
                  <a:pt x="1190243" y="1292351"/>
                </a:lnTo>
                <a:lnTo>
                  <a:pt x="0" y="0"/>
                </a:lnTo>
                <a:lnTo>
                  <a:pt x="1232915" y="1292351"/>
                </a:lnTo>
                <a:close/>
              </a:path>
            </a:pathLst>
          </a:custGeom>
          <a:solidFill>
            <a:srgbClr val="0C59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77952" y="5419344"/>
            <a:ext cx="1757680" cy="1297305"/>
          </a:xfrm>
          <a:custGeom>
            <a:avLst/>
            <a:gdLst/>
            <a:ahLst/>
            <a:cxnLst/>
            <a:rect l="l" t="t" r="r" b="b"/>
            <a:pathLst>
              <a:path w="1757680" h="1297304">
                <a:moveTo>
                  <a:pt x="1757172" y="1296923"/>
                </a:moveTo>
                <a:lnTo>
                  <a:pt x="1232915" y="1296923"/>
                </a:lnTo>
                <a:lnTo>
                  <a:pt x="0" y="4571"/>
                </a:lnTo>
                <a:lnTo>
                  <a:pt x="0" y="0"/>
                </a:lnTo>
                <a:lnTo>
                  <a:pt x="204215" y="35051"/>
                </a:lnTo>
                <a:lnTo>
                  <a:pt x="1757172" y="1296923"/>
                </a:lnTo>
                <a:close/>
              </a:path>
            </a:pathLst>
          </a:custGeom>
          <a:solidFill>
            <a:srgbClr val="1187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24967" y="5379719"/>
            <a:ext cx="1399540" cy="1336675"/>
          </a:xfrm>
          <a:custGeom>
            <a:avLst/>
            <a:gdLst/>
            <a:ahLst/>
            <a:cxnLst/>
            <a:rect l="l" t="t" r="r" b="b"/>
            <a:pathLst>
              <a:path w="1399540" h="1336675">
                <a:moveTo>
                  <a:pt x="1399032" y="1336548"/>
                </a:moveTo>
                <a:lnTo>
                  <a:pt x="1013460" y="1336548"/>
                </a:lnTo>
                <a:lnTo>
                  <a:pt x="0" y="0"/>
                </a:lnTo>
                <a:lnTo>
                  <a:pt x="201168" y="32004"/>
                </a:lnTo>
                <a:lnTo>
                  <a:pt x="205740" y="32004"/>
                </a:lnTo>
                <a:lnTo>
                  <a:pt x="205740" y="36576"/>
                </a:lnTo>
                <a:lnTo>
                  <a:pt x="201168" y="36576"/>
                </a:lnTo>
                <a:lnTo>
                  <a:pt x="1399032" y="1336548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9401" y="1893838"/>
            <a:ext cx="8599596" cy="6924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0349" y="2677168"/>
            <a:ext cx="5511800" cy="2510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816864" y="0"/>
            <a:ext cx="11103864" cy="762000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451104" y="1057655"/>
            <a:ext cx="4137660" cy="5659120"/>
            <a:chOff x="451104" y="1057655"/>
            <a:chExt cx="4137660" cy="5659120"/>
          </a:xfrm>
        </p:grpSpPr>
        <p:sp>
          <p:nvSpPr>
            <p:cNvPr id="4" name="object 4"/>
            <p:cNvSpPr/>
            <p:nvPr/>
          </p:nvSpPr>
          <p:spPr>
            <a:xfrm>
              <a:off x="812292" y="1057655"/>
              <a:ext cx="877569" cy="2292350"/>
            </a:xfrm>
            <a:custGeom>
              <a:avLst/>
              <a:gdLst/>
              <a:ahLst/>
              <a:cxnLst/>
              <a:rect l="l" t="t" r="r" b="b"/>
              <a:pathLst>
                <a:path w="877569" h="2292350">
                  <a:moveTo>
                    <a:pt x="295656" y="2292095"/>
                  </a:moveTo>
                  <a:lnTo>
                    <a:pt x="0" y="2217420"/>
                  </a:lnTo>
                  <a:lnTo>
                    <a:pt x="563105" y="0"/>
                  </a:lnTo>
                  <a:lnTo>
                    <a:pt x="877050" y="0"/>
                  </a:lnTo>
                  <a:lnTo>
                    <a:pt x="295656" y="2292095"/>
                  </a:lnTo>
                  <a:close/>
                </a:path>
              </a:pathLst>
            </a:custGeom>
            <a:solidFill>
              <a:srgbClr val="2FA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1104" y="1057655"/>
              <a:ext cx="852805" cy="2202180"/>
            </a:xfrm>
            <a:custGeom>
              <a:avLst/>
              <a:gdLst/>
              <a:ahLst/>
              <a:cxnLst/>
              <a:rect l="l" t="t" r="r" b="b"/>
              <a:pathLst>
                <a:path w="852805" h="2202179">
                  <a:moveTo>
                    <a:pt x="294131" y="2202179"/>
                  </a:moveTo>
                  <a:lnTo>
                    <a:pt x="286512" y="2197608"/>
                  </a:lnTo>
                  <a:lnTo>
                    <a:pt x="0" y="2127503"/>
                  </a:lnTo>
                  <a:lnTo>
                    <a:pt x="537202" y="0"/>
                  </a:lnTo>
                  <a:lnTo>
                    <a:pt x="852667" y="0"/>
                  </a:lnTo>
                  <a:lnTo>
                    <a:pt x="294131" y="220217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1104" y="3189732"/>
              <a:ext cx="2222500" cy="3526790"/>
            </a:xfrm>
            <a:custGeom>
              <a:avLst/>
              <a:gdLst/>
              <a:ahLst/>
              <a:cxnLst/>
              <a:rect l="l" t="t" r="r" b="b"/>
              <a:pathLst>
                <a:path w="2222500" h="3526790">
                  <a:moveTo>
                    <a:pt x="2221992" y="3526535"/>
                  </a:moveTo>
                  <a:lnTo>
                    <a:pt x="2124455" y="3526535"/>
                  </a:lnTo>
                  <a:lnTo>
                    <a:pt x="0" y="0"/>
                  </a:lnTo>
                  <a:lnTo>
                    <a:pt x="2221992" y="3526535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16864" y="3279648"/>
              <a:ext cx="2749550" cy="3436620"/>
            </a:xfrm>
            <a:custGeom>
              <a:avLst/>
              <a:gdLst/>
              <a:ahLst/>
              <a:cxnLst/>
              <a:rect l="l" t="t" r="r" b="b"/>
              <a:pathLst>
                <a:path w="2749550" h="3436620">
                  <a:moveTo>
                    <a:pt x="2749295" y="3436619"/>
                  </a:moveTo>
                  <a:lnTo>
                    <a:pt x="2647187" y="3436619"/>
                  </a:lnTo>
                  <a:lnTo>
                    <a:pt x="0" y="0"/>
                  </a:lnTo>
                  <a:lnTo>
                    <a:pt x="2749295" y="3436619"/>
                  </a:lnTo>
                  <a:close/>
                </a:path>
              </a:pathLst>
            </a:custGeom>
            <a:solidFill>
              <a:srgbClr val="0C59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2291" y="3275075"/>
              <a:ext cx="3776979" cy="3441700"/>
            </a:xfrm>
            <a:custGeom>
              <a:avLst/>
              <a:gdLst/>
              <a:ahLst/>
              <a:cxnLst/>
              <a:rect l="l" t="t" r="r" b="b"/>
              <a:pathLst>
                <a:path w="3776979" h="3441700">
                  <a:moveTo>
                    <a:pt x="3776472" y="3441191"/>
                  </a:moveTo>
                  <a:lnTo>
                    <a:pt x="2753867" y="3441191"/>
                  </a:lnTo>
                  <a:lnTo>
                    <a:pt x="4572" y="4572"/>
                  </a:lnTo>
                  <a:lnTo>
                    <a:pt x="0" y="0"/>
                  </a:lnTo>
                  <a:lnTo>
                    <a:pt x="295656" y="74675"/>
                  </a:lnTo>
                  <a:lnTo>
                    <a:pt x="3776472" y="3441191"/>
                  </a:lnTo>
                  <a:close/>
                </a:path>
              </a:pathLst>
            </a:custGeom>
            <a:solidFill>
              <a:srgbClr val="1187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1104" y="3185159"/>
              <a:ext cx="2958465" cy="3531235"/>
            </a:xfrm>
            <a:custGeom>
              <a:avLst/>
              <a:gdLst/>
              <a:ahLst/>
              <a:cxnLst/>
              <a:rect l="l" t="t" r="r" b="b"/>
              <a:pathLst>
                <a:path w="2958465" h="3531234">
                  <a:moveTo>
                    <a:pt x="2958083" y="3531108"/>
                  </a:moveTo>
                  <a:lnTo>
                    <a:pt x="2221991" y="3531108"/>
                  </a:lnTo>
                  <a:lnTo>
                    <a:pt x="0" y="4572"/>
                  </a:lnTo>
                  <a:lnTo>
                    <a:pt x="0" y="0"/>
                  </a:lnTo>
                  <a:lnTo>
                    <a:pt x="294132" y="74675"/>
                  </a:lnTo>
                  <a:lnTo>
                    <a:pt x="298703" y="79248"/>
                  </a:lnTo>
                  <a:lnTo>
                    <a:pt x="345948" y="144780"/>
                  </a:lnTo>
                  <a:lnTo>
                    <a:pt x="2958083" y="353110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60682" y="2924142"/>
            <a:ext cx="9249410" cy="466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b="1" spc="-20" dirty="0">
                <a:latin typeface="Corbel"/>
                <a:cs typeface="Corbel"/>
              </a:rPr>
              <a:t>Summer</a:t>
            </a:r>
            <a:r>
              <a:rPr b="1" spc="-130" dirty="0">
                <a:latin typeface="Corbel"/>
                <a:cs typeface="Corbel"/>
              </a:rPr>
              <a:t> </a:t>
            </a:r>
            <a:r>
              <a:rPr b="1" dirty="0">
                <a:latin typeface="Corbel"/>
                <a:cs typeface="Corbel"/>
              </a:rPr>
              <a:t>Online</a:t>
            </a:r>
            <a:r>
              <a:rPr b="1" spc="-114" dirty="0">
                <a:latin typeface="Corbel"/>
                <a:cs typeface="Corbel"/>
              </a:rPr>
              <a:t> </a:t>
            </a:r>
            <a:r>
              <a:rPr b="1" dirty="0">
                <a:latin typeface="Corbel"/>
                <a:cs typeface="Corbel"/>
              </a:rPr>
              <a:t>internship</a:t>
            </a:r>
            <a:r>
              <a:rPr b="1" spc="-80" dirty="0">
                <a:latin typeface="Corbel"/>
                <a:cs typeface="Corbel"/>
              </a:rPr>
              <a:t> </a:t>
            </a:r>
            <a:r>
              <a:rPr b="1" dirty="0">
                <a:latin typeface="Corbel"/>
                <a:cs typeface="Corbel"/>
              </a:rPr>
              <a:t>web</a:t>
            </a:r>
            <a:r>
              <a:rPr b="1" spc="-75" dirty="0">
                <a:latin typeface="Corbel"/>
                <a:cs typeface="Corbel"/>
              </a:rPr>
              <a:t> </a:t>
            </a:r>
            <a:r>
              <a:rPr b="1" spc="-10" dirty="0">
                <a:latin typeface="Corbel"/>
                <a:cs typeface="Corbel"/>
              </a:rPr>
              <a:t>development</a:t>
            </a:r>
            <a:r>
              <a:rPr b="1" spc="-75" dirty="0">
                <a:latin typeface="Corbel"/>
                <a:cs typeface="Corbel"/>
              </a:rPr>
              <a:t> </a:t>
            </a:r>
            <a:r>
              <a:rPr b="1" dirty="0">
                <a:latin typeface="Corbel"/>
                <a:cs typeface="Corbel"/>
              </a:rPr>
              <a:t>using</a:t>
            </a:r>
            <a:r>
              <a:rPr b="1" spc="-55" dirty="0">
                <a:latin typeface="Corbel"/>
                <a:cs typeface="Corbel"/>
              </a:rPr>
              <a:t> </a:t>
            </a:r>
            <a:r>
              <a:rPr b="1" spc="-10" dirty="0">
                <a:latin typeface="Corbel"/>
                <a:cs typeface="Corbel"/>
              </a:rPr>
              <a:t>Django</a:t>
            </a: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57656"/>
            <a:ext cx="10058400" cy="138379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949920" y="3654078"/>
            <a:ext cx="463804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spc="-10" dirty="0">
                <a:latin typeface="Corbel"/>
                <a:cs typeface="Corbel"/>
              </a:rPr>
              <a:t>Topic:</a:t>
            </a:r>
            <a:r>
              <a:rPr sz="1950" b="1" spc="-25" dirty="0">
                <a:latin typeface="Corbel"/>
                <a:cs typeface="Corbel"/>
              </a:rPr>
              <a:t> </a:t>
            </a:r>
            <a:r>
              <a:rPr sz="1950" b="1" dirty="0">
                <a:latin typeface="Corbel"/>
                <a:cs typeface="Corbel"/>
              </a:rPr>
              <a:t>Online</a:t>
            </a:r>
            <a:r>
              <a:rPr sz="1950" b="1" spc="40" dirty="0">
                <a:latin typeface="Corbel"/>
                <a:cs typeface="Corbel"/>
              </a:rPr>
              <a:t> </a:t>
            </a:r>
            <a:r>
              <a:rPr sz="1950" b="1" dirty="0">
                <a:latin typeface="Corbel"/>
                <a:cs typeface="Corbel"/>
              </a:rPr>
              <a:t>Library</a:t>
            </a:r>
            <a:r>
              <a:rPr sz="1950" b="1" spc="40" dirty="0">
                <a:latin typeface="Corbel"/>
                <a:cs typeface="Corbel"/>
              </a:rPr>
              <a:t> </a:t>
            </a:r>
            <a:r>
              <a:rPr sz="1950" b="1" dirty="0">
                <a:latin typeface="Corbel"/>
                <a:cs typeface="Corbel"/>
              </a:rPr>
              <a:t>Management</a:t>
            </a:r>
            <a:r>
              <a:rPr sz="1950" b="1" spc="-15" dirty="0">
                <a:latin typeface="Corbel"/>
                <a:cs typeface="Corbel"/>
              </a:rPr>
              <a:t> </a:t>
            </a:r>
            <a:r>
              <a:rPr sz="1950" b="1" spc="-10" dirty="0">
                <a:latin typeface="Corbel"/>
                <a:cs typeface="Corbel"/>
              </a:rPr>
              <a:t>System</a:t>
            </a:r>
            <a:endParaRPr sz="1950">
              <a:latin typeface="Corbel"/>
              <a:cs typeface="Corbe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85034" y="5266004"/>
            <a:ext cx="2223770" cy="180818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35305" marR="5080" indent="-523240" algn="r">
              <a:lnSpc>
                <a:spcPct val="141400"/>
              </a:lnSpc>
              <a:spcBef>
                <a:spcPts val="90"/>
              </a:spcBef>
            </a:pPr>
            <a:r>
              <a:rPr sz="2400" b="1" dirty="0">
                <a:latin typeface="Corbel"/>
                <a:cs typeface="Corbel"/>
              </a:rPr>
              <a:t> </a:t>
            </a:r>
            <a:r>
              <a:rPr lang="en-IN" sz="2400" b="1" dirty="0">
                <a:latin typeface="Corbel"/>
                <a:cs typeface="Corbel"/>
              </a:rPr>
              <a:t>Meda </a:t>
            </a:r>
            <a:r>
              <a:rPr sz="2400" b="1" dirty="0">
                <a:latin typeface="Corbel"/>
                <a:cs typeface="Corbel"/>
              </a:rPr>
              <a:t>Jyothsna</a:t>
            </a:r>
            <a:endParaRPr lang="en-IN" sz="2400" b="1" dirty="0">
              <a:latin typeface="Corbel"/>
              <a:cs typeface="Corbel"/>
            </a:endParaRPr>
          </a:p>
          <a:p>
            <a:pPr marL="535305" marR="5080" indent="-523240" algn="r">
              <a:lnSpc>
                <a:spcPct val="141400"/>
              </a:lnSpc>
              <a:spcBef>
                <a:spcPts val="90"/>
              </a:spcBef>
            </a:pPr>
            <a:r>
              <a:rPr lang="en-IN" sz="2400" b="1" spc="40" dirty="0">
                <a:latin typeface="Corbel"/>
                <a:cs typeface="Corbel"/>
              </a:rPr>
              <a:t>2401600149</a:t>
            </a:r>
            <a:r>
              <a:rPr sz="2400" b="1" spc="40" dirty="0">
                <a:latin typeface="Corbel"/>
                <a:cs typeface="Corbel"/>
              </a:rPr>
              <a:t> </a:t>
            </a:r>
            <a:r>
              <a:rPr sz="2400" b="1" spc="-25" dirty="0">
                <a:latin typeface="Corbel"/>
                <a:cs typeface="Corbel"/>
              </a:rPr>
              <a:t>KLU</a:t>
            </a:r>
            <a:endParaRPr sz="2400" dirty="0">
              <a:latin typeface="Corbel"/>
              <a:cs typeface="Corbel"/>
            </a:endParaRPr>
          </a:p>
          <a:p>
            <a:pPr marL="754380" marR="5080" indent="187325" algn="r">
              <a:lnSpc>
                <a:spcPts val="1789"/>
              </a:lnSpc>
              <a:spcBef>
                <a:spcPts val="85"/>
              </a:spcBef>
            </a:pPr>
            <a:endParaRPr sz="1050" dirty="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3117" y="2456249"/>
            <a:ext cx="1312545" cy="466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contains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3435" y="3105955"/>
            <a:ext cx="2366645" cy="2132330"/>
          </a:xfrm>
          <a:prstGeom prst="rect">
            <a:avLst/>
          </a:prstGeom>
        </p:spPr>
        <p:txBody>
          <a:bodyPr vert="horz" wrap="square" lIns="0" tIns="26669" rIns="0" bIns="0" rtlCol="0">
            <a:spAutoFit/>
          </a:bodyPr>
          <a:lstStyle/>
          <a:p>
            <a:pPr marL="436245" indent="-423545">
              <a:lnSpc>
                <a:spcPct val="100000"/>
              </a:lnSpc>
              <a:spcBef>
                <a:spcPts val="209"/>
              </a:spcBef>
              <a:buClr>
                <a:srgbClr val="1187C3"/>
              </a:buClr>
              <a:buSzPct val="142424"/>
              <a:buFont typeface="Arial MT"/>
              <a:buChar char="•"/>
              <a:tabLst>
                <a:tab pos="436245" algn="l"/>
              </a:tabLst>
            </a:pPr>
            <a:r>
              <a:rPr sz="1650" dirty="0">
                <a:latin typeface="Corbel"/>
                <a:cs typeface="Corbel"/>
              </a:rPr>
              <a:t>Home</a:t>
            </a:r>
            <a:r>
              <a:rPr sz="1650" spc="-35" dirty="0">
                <a:latin typeface="Corbel"/>
                <a:cs typeface="Corbel"/>
              </a:rPr>
              <a:t> </a:t>
            </a:r>
            <a:r>
              <a:rPr sz="1650" spc="-20" dirty="0">
                <a:latin typeface="Corbel"/>
                <a:cs typeface="Corbel"/>
              </a:rPr>
              <a:t>Page</a:t>
            </a:r>
            <a:endParaRPr sz="1650">
              <a:latin typeface="Corbel"/>
              <a:cs typeface="Corbel"/>
            </a:endParaRPr>
          </a:p>
          <a:p>
            <a:pPr marL="436245" indent="-423545">
              <a:lnSpc>
                <a:spcPct val="100000"/>
              </a:lnSpc>
              <a:spcBef>
                <a:spcPts val="885"/>
              </a:spcBef>
              <a:buClr>
                <a:srgbClr val="1187C3"/>
              </a:buClr>
              <a:buSzPct val="142424"/>
              <a:buFont typeface="Arial MT"/>
              <a:buChar char="•"/>
              <a:tabLst>
                <a:tab pos="436245" algn="l"/>
              </a:tabLst>
            </a:pPr>
            <a:r>
              <a:rPr sz="1650" dirty="0">
                <a:latin typeface="Corbel"/>
                <a:cs typeface="Corbel"/>
              </a:rPr>
              <a:t>Login</a:t>
            </a:r>
            <a:r>
              <a:rPr sz="1650" spc="-60" dirty="0">
                <a:latin typeface="Corbel"/>
                <a:cs typeface="Corbel"/>
              </a:rPr>
              <a:t> </a:t>
            </a:r>
            <a:r>
              <a:rPr sz="1650" spc="-20" dirty="0">
                <a:latin typeface="Corbel"/>
                <a:cs typeface="Corbel"/>
              </a:rPr>
              <a:t>Page</a:t>
            </a:r>
            <a:endParaRPr sz="1650">
              <a:latin typeface="Corbel"/>
              <a:cs typeface="Corbel"/>
            </a:endParaRPr>
          </a:p>
          <a:p>
            <a:pPr marL="436245" indent="-423545">
              <a:lnSpc>
                <a:spcPct val="100000"/>
              </a:lnSpc>
              <a:spcBef>
                <a:spcPts val="890"/>
              </a:spcBef>
              <a:buClr>
                <a:srgbClr val="1187C3"/>
              </a:buClr>
              <a:buSzPct val="142424"/>
              <a:buFont typeface="Arial MT"/>
              <a:buChar char="•"/>
              <a:tabLst>
                <a:tab pos="436245" algn="l"/>
              </a:tabLst>
            </a:pPr>
            <a:r>
              <a:rPr sz="1650" spc="-10" dirty="0">
                <a:latin typeface="Corbel"/>
                <a:cs typeface="Corbel"/>
              </a:rPr>
              <a:t>Admin</a:t>
            </a:r>
            <a:r>
              <a:rPr sz="1650" spc="-65" dirty="0">
                <a:latin typeface="Corbel"/>
                <a:cs typeface="Corbel"/>
              </a:rPr>
              <a:t> </a:t>
            </a:r>
            <a:r>
              <a:rPr sz="1650" spc="-10" dirty="0">
                <a:latin typeface="Corbel"/>
                <a:cs typeface="Corbel"/>
              </a:rPr>
              <a:t>Administration</a:t>
            </a:r>
            <a:endParaRPr sz="1650">
              <a:latin typeface="Corbel"/>
              <a:cs typeface="Corbel"/>
            </a:endParaRPr>
          </a:p>
          <a:p>
            <a:pPr marL="436245" indent="-423545">
              <a:lnSpc>
                <a:spcPct val="100000"/>
              </a:lnSpc>
              <a:spcBef>
                <a:spcPts val="885"/>
              </a:spcBef>
              <a:buClr>
                <a:srgbClr val="1187C3"/>
              </a:buClr>
              <a:buSzPct val="142424"/>
              <a:buFont typeface="Arial MT"/>
              <a:buChar char="•"/>
              <a:tabLst>
                <a:tab pos="436245" algn="l"/>
              </a:tabLst>
            </a:pPr>
            <a:r>
              <a:rPr sz="1650" dirty="0">
                <a:latin typeface="Corbel"/>
                <a:cs typeface="Corbel"/>
              </a:rPr>
              <a:t>Views</a:t>
            </a:r>
            <a:r>
              <a:rPr sz="1650" spc="-25" dirty="0">
                <a:latin typeface="Corbel"/>
                <a:cs typeface="Corbel"/>
              </a:rPr>
              <a:t> </a:t>
            </a:r>
            <a:r>
              <a:rPr sz="1650" spc="-20" dirty="0">
                <a:latin typeface="Corbel"/>
                <a:cs typeface="Corbel"/>
              </a:rPr>
              <a:t>Books</a:t>
            </a:r>
            <a:endParaRPr sz="1650">
              <a:latin typeface="Corbel"/>
              <a:cs typeface="Corbel"/>
            </a:endParaRPr>
          </a:p>
          <a:p>
            <a:pPr marL="436245" indent="-423545">
              <a:lnSpc>
                <a:spcPct val="100000"/>
              </a:lnSpc>
              <a:spcBef>
                <a:spcPts val="900"/>
              </a:spcBef>
              <a:buClr>
                <a:srgbClr val="1187C3"/>
              </a:buClr>
              <a:buSzPct val="142424"/>
              <a:buFont typeface="Arial MT"/>
              <a:buChar char="•"/>
              <a:tabLst>
                <a:tab pos="436245" algn="l"/>
              </a:tabLst>
            </a:pPr>
            <a:r>
              <a:rPr sz="1650" dirty="0">
                <a:latin typeface="Corbel"/>
                <a:cs typeface="Corbel"/>
              </a:rPr>
              <a:t>Site</a:t>
            </a:r>
            <a:r>
              <a:rPr sz="1650" spc="229" dirty="0">
                <a:latin typeface="Corbel"/>
                <a:cs typeface="Corbel"/>
              </a:rPr>
              <a:t> </a:t>
            </a:r>
            <a:r>
              <a:rPr sz="1650" spc="-10" dirty="0">
                <a:latin typeface="Corbel"/>
                <a:cs typeface="Corbel"/>
              </a:rPr>
              <a:t>Administration</a:t>
            </a:r>
            <a:endParaRPr sz="1650">
              <a:latin typeface="Corbel"/>
              <a:cs typeface="Corbel"/>
            </a:endParaRPr>
          </a:p>
          <a:p>
            <a:pPr marL="436245" indent="-423545">
              <a:lnSpc>
                <a:spcPct val="100000"/>
              </a:lnSpc>
              <a:spcBef>
                <a:spcPts val="890"/>
              </a:spcBef>
              <a:buClr>
                <a:srgbClr val="1187C3"/>
              </a:buClr>
              <a:buSzPct val="142424"/>
              <a:buFont typeface="Arial MT"/>
              <a:buChar char="•"/>
              <a:tabLst>
                <a:tab pos="436245" algn="l"/>
              </a:tabLst>
            </a:pPr>
            <a:r>
              <a:rPr sz="1650" spc="-20" dirty="0">
                <a:latin typeface="Corbel"/>
                <a:cs typeface="Corbel"/>
              </a:rPr>
              <a:t>Code</a:t>
            </a:r>
            <a:endParaRPr sz="1650">
              <a:latin typeface="Corbel"/>
              <a:cs typeface="Corbe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364735" y="1639824"/>
            <a:ext cx="5694045" cy="4541520"/>
            <a:chOff x="4364735" y="1639824"/>
            <a:chExt cx="5694045" cy="45415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64735" y="1639824"/>
              <a:ext cx="2785871" cy="234848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50607" y="1691640"/>
              <a:ext cx="2907792" cy="234848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64735" y="4040124"/>
              <a:ext cx="5693664" cy="21412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2981" y="1683436"/>
            <a:ext cx="1439545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dirty="0"/>
              <a:t>Home</a:t>
            </a:r>
            <a:r>
              <a:rPr sz="2300" spc="-5" dirty="0"/>
              <a:t> </a:t>
            </a:r>
            <a:r>
              <a:rPr sz="2300" spc="-20" dirty="0"/>
              <a:t>Page</a:t>
            </a:r>
            <a:endParaRPr sz="23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9803" y="1577340"/>
            <a:ext cx="4768596" cy="356768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26411" y="2198637"/>
            <a:ext cx="4447540" cy="296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5885" indent="-88900">
              <a:lnSpc>
                <a:spcPct val="100000"/>
              </a:lnSpc>
              <a:spcBef>
                <a:spcPts val="135"/>
              </a:spcBef>
              <a:buSzPct val="93103"/>
              <a:buFont typeface="Corbel"/>
              <a:buChar char="•"/>
              <a:tabLst>
                <a:tab pos="95885" algn="l"/>
              </a:tabLst>
            </a:pPr>
            <a:r>
              <a:rPr sz="1450" b="1" dirty="0">
                <a:latin typeface="Corbel"/>
                <a:cs typeface="Corbel"/>
              </a:rPr>
              <a:t>User-Friendly</a:t>
            </a:r>
            <a:r>
              <a:rPr sz="1450" b="1" spc="135" dirty="0">
                <a:latin typeface="Corbel"/>
                <a:cs typeface="Corbel"/>
              </a:rPr>
              <a:t> </a:t>
            </a:r>
            <a:r>
              <a:rPr sz="1450" b="1" spc="-10" dirty="0">
                <a:latin typeface="Corbel"/>
                <a:cs typeface="Corbel"/>
              </a:rPr>
              <a:t>Interface</a:t>
            </a:r>
            <a:r>
              <a:rPr sz="1450" spc="-10" dirty="0">
                <a:latin typeface="Corbel"/>
                <a:cs typeface="Corbel"/>
              </a:rPr>
              <a:t>:</a:t>
            </a:r>
            <a:endParaRPr sz="1450">
              <a:latin typeface="Corbel"/>
              <a:cs typeface="Corbel"/>
            </a:endParaRPr>
          </a:p>
          <a:p>
            <a:pPr marL="50800" marR="570230" indent="-38735">
              <a:lnSpc>
                <a:spcPts val="1789"/>
              </a:lnSpc>
              <a:spcBef>
                <a:spcPts val="55"/>
              </a:spcBef>
            </a:pPr>
            <a:r>
              <a:rPr sz="1450" dirty="0">
                <a:latin typeface="Corbel"/>
                <a:cs typeface="Corbel"/>
              </a:rPr>
              <a:t>The</a:t>
            </a:r>
            <a:r>
              <a:rPr sz="1450" spc="7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homepage</a:t>
            </a:r>
            <a:r>
              <a:rPr sz="1450" spc="6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features</a:t>
            </a:r>
            <a:r>
              <a:rPr sz="1450" spc="4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a</a:t>
            </a:r>
            <a:r>
              <a:rPr sz="1450" spc="9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clean</a:t>
            </a:r>
            <a:r>
              <a:rPr sz="1450" spc="5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layout</a:t>
            </a:r>
            <a:r>
              <a:rPr sz="1450" spc="7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with</a:t>
            </a:r>
            <a:r>
              <a:rPr sz="1450" spc="80" dirty="0">
                <a:latin typeface="Corbel"/>
                <a:cs typeface="Corbel"/>
              </a:rPr>
              <a:t> </a:t>
            </a:r>
            <a:r>
              <a:rPr sz="1450" spc="-10" dirty="0">
                <a:latin typeface="Corbel"/>
                <a:cs typeface="Corbel"/>
              </a:rPr>
              <a:t>clear </a:t>
            </a:r>
            <a:r>
              <a:rPr sz="1450" dirty="0">
                <a:latin typeface="Corbel"/>
                <a:cs typeface="Corbel"/>
              </a:rPr>
              <a:t>navigation</a:t>
            </a:r>
            <a:r>
              <a:rPr sz="1450" spc="3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options</a:t>
            </a:r>
            <a:r>
              <a:rPr sz="1450" spc="4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like</a:t>
            </a:r>
            <a:r>
              <a:rPr sz="1450" spc="60" dirty="0">
                <a:latin typeface="Corbel"/>
                <a:cs typeface="Corbel"/>
              </a:rPr>
              <a:t> </a:t>
            </a:r>
            <a:r>
              <a:rPr sz="1450" i="1" dirty="0">
                <a:latin typeface="Corbel"/>
                <a:cs typeface="Corbel"/>
              </a:rPr>
              <a:t>Home</a:t>
            </a:r>
            <a:r>
              <a:rPr sz="1450" dirty="0">
                <a:latin typeface="Corbel"/>
                <a:cs typeface="Corbel"/>
              </a:rPr>
              <a:t>,</a:t>
            </a:r>
            <a:r>
              <a:rPr sz="1450" spc="60" dirty="0">
                <a:latin typeface="Corbel"/>
                <a:cs typeface="Corbel"/>
              </a:rPr>
              <a:t> </a:t>
            </a:r>
            <a:r>
              <a:rPr sz="1450" i="1" dirty="0">
                <a:latin typeface="Corbel"/>
                <a:cs typeface="Corbel"/>
              </a:rPr>
              <a:t>Contact</a:t>
            </a:r>
            <a:r>
              <a:rPr sz="1450" dirty="0">
                <a:latin typeface="Corbel"/>
                <a:cs typeface="Corbel"/>
              </a:rPr>
              <a:t>,</a:t>
            </a:r>
            <a:r>
              <a:rPr sz="1450" spc="75" dirty="0">
                <a:latin typeface="Corbel"/>
                <a:cs typeface="Corbel"/>
              </a:rPr>
              <a:t> </a:t>
            </a:r>
            <a:r>
              <a:rPr sz="1450" i="1" dirty="0">
                <a:latin typeface="Corbel"/>
                <a:cs typeface="Corbel"/>
              </a:rPr>
              <a:t>Login</a:t>
            </a:r>
            <a:r>
              <a:rPr sz="1450" dirty="0">
                <a:latin typeface="Corbel"/>
                <a:cs typeface="Corbel"/>
              </a:rPr>
              <a:t>,</a:t>
            </a:r>
            <a:r>
              <a:rPr sz="1450" spc="100" dirty="0">
                <a:latin typeface="Corbel"/>
                <a:cs typeface="Corbel"/>
              </a:rPr>
              <a:t> </a:t>
            </a:r>
            <a:r>
              <a:rPr sz="1450" spc="-25" dirty="0">
                <a:latin typeface="Corbel"/>
                <a:cs typeface="Corbel"/>
              </a:rPr>
              <a:t>and</a:t>
            </a:r>
            <a:endParaRPr sz="1450">
              <a:latin typeface="Corbel"/>
              <a:cs typeface="Corbel"/>
            </a:endParaRPr>
          </a:p>
          <a:p>
            <a:pPr marL="12700">
              <a:lnSpc>
                <a:spcPts val="1705"/>
              </a:lnSpc>
            </a:pPr>
            <a:r>
              <a:rPr sz="1450" i="1" spc="-10" dirty="0">
                <a:latin typeface="Corbel"/>
                <a:cs typeface="Corbel"/>
              </a:rPr>
              <a:t>Register</a:t>
            </a:r>
            <a:endParaRPr sz="1450">
              <a:latin typeface="Corbel"/>
              <a:cs typeface="Corbel"/>
            </a:endParaRPr>
          </a:p>
          <a:p>
            <a:pPr marL="50800">
              <a:lnSpc>
                <a:spcPct val="100000"/>
              </a:lnSpc>
              <a:spcBef>
                <a:spcPts val="50"/>
              </a:spcBef>
            </a:pPr>
            <a:r>
              <a:rPr sz="1450" dirty="0">
                <a:latin typeface="Corbel"/>
                <a:cs typeface="Corbel"/>
              </a:rPr>
              <a:t>for</a:t>
            </a:r>
            <a:r>
              <a:rPr sz="1450" spc="4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easy</a:t>
            </a:r>
            <a:r>
              <a:rPr sz="1450" spc="40" dirty="0">
                <a:latin typeface="Corbel"/>
                <a:cs typeface="Corbel"/>
              </a:rPr>
              <a:t> </a:t>
            </a:r>
            <a:r>
              <a:rPr sz="1450" spc="-10" dirty="0">
                <a:latin typeface="Corbel"/>
                <a:cs typeface="Corbel"/>
              </a:rPr>
              <a:t>access.</a:t>
            </a:r>
            <a:endParaRPr sz="145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450" b="1" dirty="0">
                <a:latin typeface="Corbel"/>
                <a:cs typeface="Corbel"/>
              </a:rPr>
              <a:t>Call</a:t>
            </a:r>
            <a:r>
              <a:rPr sz="1450" b="1" spc="50" dirty="0">
                <a:latin typeface="Corbel"/>
                <a:cs typeface="Corbel"/>
              </a:rPr>
              <a:t> </a:t>
            </a:r>
            <a:r>
              <a:rPr sz="1450" b="1" dirty="0">
                <a:latin typeface="Corbel"/>
                <a:cs typeface="Corbel"/>
              </a:rPr>
              <a:t>to</a:t>
            </a:r>
            <a:r>
              <a:rPr sz="1450" b="1" spc="-10" dirty="0">
                <a:latin typeface="Corbel"/>
                <a:cs typeface="Corbel"/>
              </a:rPr>
              <a:t> </a:t>
            </a:r>
            <a:r>
              <a:rPr sz="1450" b="1" dirty="0">
                <a:latin typeface="Corbel"/>
                <a:cs typeface="Corbel"/>
              </a:rPr>
              <a:t>Action</a:t>
            </a:r>
            <a:r>
              <a:rPr sz="1450" b="1" spc="50" dirty="0">
                <a:latin typeface="Corbel"/>
                <a:cs typeface="Corbel"/>
              </a:rPr>
              <a:t> </a:t>
            </a:r>
            <a:r>
              <a:rPr sz="1450" b="1" spc="-10" dirty="0">
                <a:latin typeface="Corbel"/>
                <a:cs typeface="Corbel"/>
              </a:rPr>
              <a:t>Buttons</a:t>
            </a:r>
            <a:r>
              <a:rPr sz="1450" spc="-10" dirty="0">
                <a:latin typeface="Corbel"/>
                <a:cs typeface="Corbel"/>
              </a:rPr>
              <a:t>:</a:t>
            </a:r>
            <a:endParaRPr sz="1450">
              <a:latin typeface="Corbel"/>
              <a:cs typeface="Corbel"/>
            </a:endParaRPr>
          </a:p>
          <a:p>
            <a:pPr marL="50800" marR="20320">
              <a:lnSpc>
                <a:spcPct val="102400"/>
              </a:lnSpc>
              <a:spcBef>
                <a:spcPts val="5"/>
              </a:spcBef>
            </a:pPr>
            <a:r>
              <a:rPr sz="1450" dirty="0">
                <a:latin typeface="Corbel"/>
                <a:cs typeface="Corbel"/>
              </a:rPr>
              <a:t>Prominent</a:t>
            </a:r>
            <a:r>
              <a:rPr sz="1450" spc="5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buttons</a:t>
            </a:r>
            <a:r>
              <a:rPr sz="1450" spc="10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like</a:t>
            </a:r>
            <a:r>
              <a:rPr sz="1450" spc="50" dirty="0">
                <a:latin typeface="Corbel"/>
                <a:cs typeface="Corbel"/>
              </a:rPr>
              <a:t> </a:t>
            </a:r>
            <a:r>
              <a:rPr sz="1450" b="1" dirty="0">
                <a:latin typeface="Corbel"/>
                <a:cs typeface="Corbel"/>
              </a:rPr>
              <a:t>"Get</a:t>
            </a:r>
            <a:r>
              <a:rPr sz="1450" b="1" spc="55" dirty="0">
                <a:latin typeface="Corbel"/>
                <a:cs typeface="Corbel"/>
              </a:rPr>
              <a:t> </a:t>
            </a:r>
            <a:r>
              <a:rPr sz="1450" b="1" dirty="0">
                <a:latin typeface="Corbel"/>
                <a:cs typeface="Corbel"/>
              </a:rPr>
              <a:t>Started"</a:t>
            </a:r>
            <a:r>
              <a:rPr sz="1450" b="1" spc="6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and</a:t>
            </a:r>
            <a:r>
              <a:rPr sz="1450" spc="70" dirty="0">
                <a:latin typeface="Corbel"/>
                <a:cs typeface="Corbel"/>
              </a:rPr>
              <a:t> </a:t>
            </a:r>
            <a:r>
              <a:rPr sz="1450" b="1" dirty="0">
                <a:latin typeface="Corbel"/>
                <a:cs typeface="Corbel"/>
              </a:rPr>
              <a:t>"Login"</a:t>
            </a:r>
            <a:r>
              <a:rPr sz="1450" b="1" spc="45" dirty="0">
                <a:latin typeface="Corbel"/>
                <a:cs typeface="Corbel"/>
              </a:rPr>
              <a:t> </a:t>
            </a:r>
            <a:r>
              <a:rPr sz="1450" spc="-10" dirty="0">
                <a:latin typeface="Corbel"/>
                <a:cs typeface="Corbel"/>
              </a:rPr>
              <a:t>guide </a:t>
            </a:r>
            <a:r>
              <a:rPr sz="1450" dirty="0">
                <a:latin typeface="Corbel"/>
                <a:cs typeface="Corbel"/>
              </a:rPr>
              <a:t>users</a:t>
            </a:r>
            <a:r>
              <a:rPr sz="1450" spc="4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to</a:t>
            </a:r>
            <a:r>
              <a:rPr sz="1450" spc="9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take</a:t>
            </a:r>
            <a:r>
              <a:rPr sz="1450" spc="8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immediate</a:t>
            </a:r>
            <a:r>
              <a:rPr sz="1450" spc="4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actions,</a:t>
            </a:r>
            <a:r>
              <a:rPr sz="1450" spc="7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improving</a:t>
            </a:r>
            <a:r>
              <a:rPr sz="1450" spc="35" dirty="0">
                <a:latin typeface="Corbel"/>
                <a:cs typeface="Corbel"/>
              </a:rPr>
              <a:t> </a:t>
            </a:r>
            <a:r>
              <a:rPr sz="1450" spc="-20" dirty="0">
                <a:latin typeface="Corbel"/>
                <a:cs typeface="Corbel"/>
              </a:rPr>
              <a:t>user </a:t>
            </a:r>
            <a:r>
              <a:rPr sz="1450" spc="-10" dirty="0">
                <a:latin typeface="Corbel"/>
                <a:cs typeface="Corbel"/>
              </a:rPr>
              <a:t>engagement.</a:t>
            </a:r>
            <a:endParaRPr sz="145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450" b="1" dirty="0">
                <a:latin typeface="Corbel"/>
                <a:cs typeface="Corbel"/>
              </a:rPr>
              <a:t>Modern</a:t>
            </a:r>
            <a:r>
              <a:rPr sz="1450" b="1" spc="-40" dirty="0">
                <a:latin typeface="Corbel"/>
                <a:cs typeface="Corbel"/>
              </a:rPr>
              <a:t> </a:t>
            </a:r>
            <a:r>
              <a:rPr sz="1450" b="1" dirty="0">
                <a:latin typeface="Corbel"/>
                <a:cs typeface="Corbel"/>
              </a:rPr>
              <a:t>Visual</a:t>
            </a:r>
            <a:r>
              <a:rPr sz="1450" b="1" spc="35" dirty="0">
                <a:latin typeface="Corbel"/>
                <a:cs typeface="Corbel"/>
              </a:rPr>
              <a:t> </a:t>
            </a:r>
            <a:r>
              <a:rPr sz="1450" b="1" spc="-10" dirty="0">
                <a:latin typeface="Corbel"/>
                <a:cs typeface="Corbel"/>
              </a:rPr>
              <a:t>Appeal</a:t>
            </a:r>
            <a:r>
              <a:rPr sz="1450" spc="-10" dirty="0">
                <a:latin typeface="Corbel"/>
                <a:cs typeface="Corbel"/>
              </a:rPr>
              <a:t>:</a:t>
            </a:r>
            <a:endParaRPr sz="1450">
              <a:latin typeface="Corbel"/>
              <a:cs typeface="Corbel"/>
            </a:endParaRPr>
          </a:p>
          <a:p>
            <a:pPr marL="12700" marR="5080">
              <a:lnSpc>
                <a:spcPct val="102400"/>
              </a:lnSpc>
              <a:spcBef>
                <a:spcPts val="5"/>
              </a:spcBef>
            </a:pPr>
            <a:r>
              <a:rPr sz="1450" dirty="0">
                <a:latin typeface="Corbel"/>
                <a:cs typeface="Corbel"/>
              </a:rPr>
              <a:t>The</a:t>
            </a:r>
            <a:r>
              <a:rPr sz="1450" spc="6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background</a:t>
            </a:r>
            <a:r>
              <a:rPr sz="1450" spc="5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with</a:t>
            </a:r>
            <a:r>
              <a:rPr sz="1450" spc="5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a</a:t>
            </a:r>
            <a:r>
              <a:rPr sz="1450" spc="6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night</a:t>
            </a:r>
            <a:r>
              <a:rPr sz="1450" spc="4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sky</a:t>
            </a:r>
            <a:r>
              <a:rPr sz="1450" spc="8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and</a:t>
            </a:r>
            <a:r>
              <a:rPr sz="1450" spc="4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mountains,</a:t>
            </a:r>
            <a:r>
              <a:rPr sz="1450" spc="55" dirty="0">
                <a:latin typeface="Corbel"/>
                <a:cs typeface="Corbel"/>
              </a:rPr>
              <a:t> </a:t>
            </a:r>
            <a:r>
              <a:rPr sz="1450" spc="-10" dirty="0">
                <a:latin typeface="Corbel"/>
                <a:cs typeface="Corbel"/>
              </a:rPr>
              <a:t>paired </a:t>
            </a:r>
            <a:r>
              <a:rPr sz="1450" dirty="0">
                <a:latin typeface="Corbel"/>
                <a:cs typeface="Corbel"/>
              </a:rPr>
              <a:t>with</a:t>
            </a:r>
            <a:r>
              <a:rPr sz="1450" spc="5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bold</a:t>
            </a:r>
            <a:r>
              <a:rPr sz="1450" spc="6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text</a:t>
            </a:r>
            <a:r>
              <a:rPr sz="1450" spc="6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and</a:t>
            </a:r>
            <a:r>
              <a:rPr sz="1450" spc="6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icons,</a:t>
            </a:r>
            <a:r>
              <a:rPr sz="1450" spc="5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creates</a:t>
            </a:r>
            <a:r>
              <a:rPr sz="1450" spc="5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a</a:t>
            </a:r>
            <a:r>
              <a:rPr sz="1450" spc="6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visually</a:t>
            </a:r>
            <a:r>
              <a:rPr sz="1450" spc="4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appealing</a:t>
            </a:r>
            <a:r>
              <a:rPr sz="1450" spc="25" dirty="0">
                <a:latin typeface="Corbel"/>
                <a:cs typeface="Corbel"/>
              </a:rPr>
              <a:t> </a:t>
            </a:r>
            <a:r>
              <a:rPr sz="1450" spc="-25" dirty="0">
                <a:latin typeface="Corbel"/>
                <a:cs typeface="Corbel"/>
              </a:rPr>
              <a:t>and </a:t>
            </a:r>
            <a:r>
              <a:rPr sz="1450" dirty="0">
                <a:latin typeface="Corbel"/>
                <a:cs typeface="Corbel"/>
              </a:rPr>
              <a:t>welcoming</a:t>
            </a:r>
            <a:r>
              <a:rPr sz="1450" spc="5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experience</a:t>
            </a:r>
            <a:r>
              <a:rPr sz="1450" spc="8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for</a:t>
            </a:r>
            <a:r>
              <a:rPr sz="1450" spc="85" dirty="0">
                <a:latin typeface="Corbel"/>
                <a:cs typeface="Corbel"/>
              </a:rPr>
              <a:t> </a:t>
            </a:r>
            <a:r>
              <a:rPr sz="1450" spc="-10" dirty="0">
                <a:latin typeface="Corbel"/>
                <a:cs typeface="Corbel"/>
              </a:rPr>
              <a:t>users.</a:t>
            </a:r>
            <a:endParaRPr sz="145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5224" rIns="0" bIns="0" rtlCol="0">
            <a:spAutoFit/>
          </a:bodyPr>
          <a:lstStyle/>
          <a:p>
            <a:pPr marL="1190625">
              <a:lnSpc>
                <a:spcPct val="100000"/>
              </a:lnSpc>
              <a:spcBef>
                <a:spcPts val="114"/>
              </a:spcBef>
            </a:pPr>
            <a:r>
              <a:rPr sz="2300" dirty="0"/>
              <a:t>Login</a:t>
            </a:r>
            <a:r>
              <a:rPr sz="2300" spc="-30" dirty="0"/>
              <a:t> </a:t>
            </a:r>
            <a:r>
              <a:rPr sz="2300" spc="-20" dirty="0"/>
              <a:t>Page</a:t>
            </a:r>
            <a:endParaRPr sz="2300"/>
          </a:p>
        </p:txBody>
      </p:sp>
      <p:sp>
        <p:nvSpPr>
          <p:cNvPr id="3" name="object 3"/>
          <p:cNvSpPr txBox="1"/>
          <p:nvPr/>
        </p:nvSpPr>
        <p:spPr>
          <a:xfrm>
            <a:off x="520635" y="2664934"/>
            <a:ext cx="4305300" cy="2279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5910" marR="10160" indent="-283845">
              <a:lnSpc>
                <a:spcPct val="102400"/>
              </a:lnSpc>
              <a:spcBef>
                <a:spcPts val="95"/>
              </a:spcBef>
              <a:buClr>
                <a:srgbClr val="1187C3"/>
              </a:buClr>
              <a:buSzPct val="148275"/>
              <a:buFont typeface="Arial MT"/>
              <a:buChar char="•"/>
              <a:tabLst>
                <a:tab pos="295910" algn="l"/>
              </a:tabLst>
            </a:pPr>
            <a:r>
              <a:rPr sz="1450" dirty="0">
                <a:latin typeface="Corbel"/>
                <a:cs typeface="Corbel"/>
              </a:rPr>
              <a:t>Don’t</a:t>
            </a:r>
            <a:r>
              <a:rPr sz="1450" spc="7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have</a:t>
            </a:r>
            <a:r>
              <a:rPr sz="1450" spc="7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an</a:t>
            </a:r>
            <a:r>
              <a:rPr sz="1450" spc="3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account</a:t>
            </a:r>
            <a:r>
              <a:rPr sz="1450" spc="7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yet?</a:t>
            </a:r>
            <a:r>
              <a:rPr sz="1450" spc="5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Register</a:t>
            </a:r>
            <a:r>
              <a:rPr sz="1450" spc="1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now</a:t>
            </a:r>
            <a:r>
              <a:rPr sz="1450" spc="6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to</a:t>
            </a:r>
            <a:r>
              <a:rPr sz="1450" spc="4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join</a:t>
            </a:r>
            <a:r>
              <a:rPr sz="1450" spc="40" dirty="0">
                <a:latin typeface="Corbel"/>
                <a:cs typeface="Corbel"/>
              </a:rPr>
              <a:t> </a:t>
            </a:r>
            <a:r>
              <a:rPr sz="1450" spc="-25" dirty="0">
                <a:latin typeface="Corbel"/>
                <a:cs typeface="Corbel"/>
              </a:rPr>
              <a:t>our </a:t>
            </a:r>
            <a:r>
              <a:rPr sz="1450" dirty="0">
                <a:latin typeface="Corbel"/>
                <a:cs typeface="Corbel"/>
              </a:rPr>
              <a:t>library</a:t>
            </a:r>
            <a:r>
              <a:rPr sz="1450" spc="2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community</a:t>
            </a:r>
            <a:r>
              <a:rPr sz="1450" spc="4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and</a:t>
            </a:r>
            <a:r>
              <a:rPr sz="1450" spc="5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unlock</a:t>
            </a:r>
            <a:r>
              <a:rPr sz="1450" spc="8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full</a:t>
            </a:r>
            <a:r>
              <a:rPr sz="1450" spc="5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access</a:t>
            </a:r>
            <a:r>
              <a:rPr sz="1450" spc="5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to</a:t>
            </a:r>
            <a:r>
              <a:rPr sz="1450" spc="55" dirty="0">
                <a:latin typeface="Corbel"/>
                <a:cs typeface="Corbel"/>
              </a:rPr>
              <a:t> </a:t>
            </a:r>
            <a:r>
              <a:rPr sz="1450" spc="-25" dirty="0">
                <a:latin typeface="Corbel"/>
                <a:cs typeface="Corbel"/>
              </a:rPr>
              <a:t>our </a:t>
            </a:r>
            <a:r>
              <a:rPr sz="1450" dirty="0">
                <a:latin typeface="Corbel"/>
                <a:cs typeface="Corbel"/>
              </a:rPr>
              <a:t>catalog</a:t>
            </a:r>
            <a:r>
              <a:rPr sz="1450" spc="5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and</a:t>
            </a:r>
            <a:r>
              <a:rPr sz="1450" spc="65" dirty="0">
                <a:latin typeface="Corbel"/>
                <a:cs typeface="Corbel"/>
              </a:rPr>
              <a:t> </a:t>
            </a:r>
            <a:r>
              <a:rPr sz="1450" spc="-10" dirty="0">
                <a:latin typeface="Corbel"/>
                <a:cs typeface="Corbel"/>
              </a:rPr>
              <a:t>services.</a:t>
            </a:r>
            <a:endParaRPr sz="1450">
              <a:latin typeface="Corbel"/>
              <a:cs typeface="Corbel"/>
            </a:endParaRPr>
          </a:p>
          <a:p>
            <a:pPr marL="248920" marR="39370" indent="-236854">
              <a:lnSpc>
                <a:spcPct val="102400"/>
              </a:lnSpc>
              <a:spcBef>
                <a:spcPts val="844"/>
              </a:spcBef>
              <a:buClr>
                <a:srgbClr val="1187C3"/>
              </a:buClr>
              <a:buSzPct val="148275"/>
              <a:buFont typeface="Arial MT"/>
              <a:buChar char="•"/>
              <a:tabLst>
                <a:tab pos="248920" algn="l"/>
              </a:tabLst>
            </a:pPr>
            <a:r>
              <a:rPr sz="1450" dirty="0">
                <a:latin typeface="Corbel"/>
                <a:cs typeface="Corbel"/>
              </a:rPr>
              <a:t>Welcome</a:t>
            </a:r>
            <a:r>
              <a:rPr sz="1450" spc="4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back!</a:t>
            </a:r>
            <a:r>
              <a:rPr sz="1450" spc="60" dirty="0">
                <a:latin typeface="Corbel"/>
                <a:cs typeface="Corbel"/>
              </a:rPr>
              <a:t> </a:t>
            </a:r>
            <a:r>
              <a:rPr sz="1450" b="1" dirty="0">
                <a:latin typeface="Corbel"/>
                <a:cs typeface="Corbel"/>
              </a:rPr>
              <a:t>Sign</a:t>
            </a:r>
            <a:r>
              <a:rPr sz="1450" b="1" spc="60" dirty="0">
                <a:latin typeface="Corbel"/>
                <a:cs typeface="Corbel"/>
              </a:rPr>
              <a:t> </a:t>
            </a:r>
            <a:r>
              <a:rPr sz="1450" b="1" dirty="0">
                <a:latin typeface="Corbel"/>
                <a:cs typeface="Corbel"/>
              </a:rPr>
              <a:t>in</a:t>
            </a:r>
            <a:r>
              <a:rPr sz="1450" b="1" spc="5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with</a:t>
            </a:r>
            <a:r>
              <a:rPr sz="1450" spc="5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your</a:t>
            </a:r>
            <a:r>
              <a:rPr sz="1450" spc="6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username</a:t>
            </a:r>
            <a:r>
              <a:rPr sz="1450" spc="65" dirty="0">
                <a:latin typeface="Corbel"/>
                <a:cs typeface="Corbel"/>
              </a:rPr>
              <a:t> </a:t>
            </a:r>
            <a:r>
              <a:rPr sz="1450" spc="-25" dirty="0">
                <a:latin typeface="Corbel"/>
                <a:cs typeface="Corbel"/>
              </a:rPr>
              <a:t>and </a:t>
            </a:r>
            <a:r>
              <a:rPr sz="1450" dirty="0">
                <a:latin typeface="Corbel"/>
                <a:cs typeface="Corbel"/>
              </a:rPr>
              <a:t>password</a:t>
            </a:r>
            <a:r>
              <a:rPr sz="1450" spc="5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to</a:t>
            </a:r>
            <a:r>
              <a:rPr sz="1450" spc="7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access</a:t>
            </a:r>
            <a:r>
              <a:rPr sz="1450" spc="5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your</a:t>
            </a:r>
            <a:r>
              <a:rPr sz="1450" spc="7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library</a:t>
            </a:r>
            <a:r>
              <a:rPr sz="1450" spc="2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dashboard</a:t>
            </a:r>
            <a:r>
              <a:rPr sz="1450" spc="7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and</a:t>
            </a:r>
            <a:r>
              <a:rPr sz="1450" spc="65" dirty="0">
                <a:latin typeface="Corbel"/>
                <a:cs typeface="Corbel"/>
              </a:rPr>
              <a:t> </a:t>
            </a:r>
            <a:r>
              <a:rPr sz="1450" spc="-20" dirty="0">
                <a:latin typeface="Corbel"/>
                <a:cs typeface="Corbel"/>
              </a:rPr>
              <a:t>view </a:t>
            </a:r>
            <a:r>
              <a:rPr sz="1450" dirty="0">
                <a:latin typeface="Corbel"/>
                <a:cs typeface="Corbel"/>
              </a:rPr>
              <a:t>your</a:t>
            </a:r>
            <a:r>
              <a:rPr sz="1450" spc="7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borrowed</a:t>
            </a:r>
            <a:r>
              <a:rPr sz="1450" spc="5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books,</a:t>
            </a:r>
            <a:r>
              <a:rPr sz="1450" spc="6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holds,</a:t>
            </a:r>
            <a:r>
              <a:rPr sz="1450" spc="6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and</a:t>
            </a:r>
            <a:r>
              <a:rPr sz="1450" spc="7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reading</a:t>
            </a:r>
            <a:r>
              <a:rPr sz="1450" spc="50" dirty="0">
                <a:latin typeface="Corbel"/>
                <a:cs typeface="Corbel"/>
              </a:rPr>
              <a:t> </a:t>
            </a:r>
            <a:r>
              <a:rPr sz="1450" spc="-10" dirty="0">
                <a:latin typeface="Corbel"/>
                <a:cs typeface="Corbel"/>
              </a:rPr>
              <a:t>history.</a:t>
            </a:r>
            <a:endParaRPr sz="1450">
              <a:latin typeface="Corbel"/>
              <a:cs typeface="Corbel"/>
            </a:endParaRPr>
          </a:p>
          <a:p>
            <a:pPr marL="248920" marR="5080" indent="-236854">
              <a:lnSpc>
                <a:spcPct val="102400"/>
              </a:lnSpc>
              <a:spcBef>
                <a:spcPts val="860"/>
              </a:spcBef>
              <a:buClr>
                <a:srgbClr val="1187C3"/>
              </a:buClr>
              <a:buSzPct val="148275"/>
              <a:buFont typeface="Arial MT"/>
              <a:buChar char="•"/>
              <a:tabLst>
                <a:tab pos="248920" algn="l"/>
              </a:tabLst>
            </a:pPr>
            <a:r>
              <a:rPr sz="1450" dirty="0">
                <a:latin typeface="Corbel"/>
                <a:cs typeface="Corbel"/>
              </a:rPr>
              <a:t>Forgot</a:t>
            </a:r>
            <a:r>
              <a:rPr sz="1450" spc="6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your</a:t>
            </a:r>
            <a:r>
              <a:rPr sz="1450" spc="8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password?</a:t>
            </a:r>
            <a:r>
              <a:rPr sz="1450" spc="-2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Click</a:t>
            </a:r>
            <a:r>
              <a:rPr sz="1450" spc="4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the</a:t>
            </a:r>
            <a:r>
              <a:rPr sz="1450" spc="8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“</a:t>
            </a:r>
            <a:r>
              <a:rPr sz="1450" b="1" dirty="0">
                <a:latin typeface="Corbel"/>
                <a:cs typeface="Corbel"/>
              </a:rPr>
              <a:t>Forgot</a:t>
            </a:r>
            <a:r>
              <a:rPr sz="1450" b="1" spc="70" dirty="0">
                <a:latin typeface="Corbel"/>
                <a:cs typeface="Corbel"/>
              </a:rPr>
              <a:t> </a:t>
            </a:r>
            <a:r>
              <a:rPr sz="1450" b="1" spc="-10" dirty="0">
                <a:latin typeface="Corbel"/>
                <a:cs typeface="Corbel"/>
              </a:rPr>
              <a:t>Password</a:t>
            </a:r>
            <a:r>
              <a:rPr sz="1450" spc="-10" dirty="0">
                <a:latin typeface="Corbel"/>
                <a:cs typeface="Corbel"/>
              </a:rPr>
              <a:t>” </a:t>
            </a:r>
            <a:r>
              <a:rPr sz="1450" dirty="0">
                <a:latin typeface="Corbel"/>
                <a:cs typeface="Corbel"/>
              </a:rPr>
              <a:t>link</a:t>
            </a:r>
            <a:r>
              <a:rPr sz="1450" spc="4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to</a:t>
            </a:r>
            <a:r>
              <a:rPr sz="1450" spc="5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securely</a:t>
            </a:r>
            <a:r>
              <a:rPr sz="1450" spc="4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reset</a:t>
            </a:r>
            <a:r>
              <a:rPr sz="1450" spc="4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it</a:t>
            </a:r>
            <a:r>
              <a:rPr sz="1450" spc="4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via</a:t>
            </a:r>
            <a:r>
              <a:rPr sz="1450" spc="6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your</a:t>
            </a:r>
            <a:r>
              <a:rPr sz="1450" spc="6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registered</a:t>
            </a:r>
            <a:r>
              <a:rPr sz="1450" spc="10" dirty="0">
                <a:latin typeface="Corbel"/>
                <a:cs typeface="Corbel"/>
              </a:rPr>
              <a:t> </a:t>
            </a:r>
            <a:r>
              <a:rPr sz="1450" spc="-10" dirty="0">
                <a:latin typeface="Corbel"/>
                <a:cs typeface="Corbel"/>
              </a:rPr>
              <a:t>email address.</a:t>
            </a:r>
            <a:endParaRPr sz="1450">
              <a:latin typeface="Corbel"/>
              <a:cs typeface="Corbe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934711" y="1804416"/>
            <a:ext cx="5058410" cy="3929379"/>
            <a:chOff x="4934711" y="1804416"/>
            <a:chExt cx="5058410" cy="392937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50251" y="1929383"/>
              <a:ext cx="2610611" cy="37718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18247" y="1898904"/>
              <a:ext cx="2674619" cy="383438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34711" y="1804416"/>
              <a:ext cx="2415539" cy="389686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4415" rIns="0" bIns="0" rtlCol="0">
            <a:spAutoFit/>
          </a:bodyPr>
          <a:lstStyle/>
          <a:p>
            <a:pPr marL="512445">
              <a:lnSpc>
                <a:spcPct val="100000"/>
              </a:lnSpc>
              <a:spcBef>
                <a:spcPts val="114"/>
              </a:spcBef>
            </a:pPr>
            <a:r>
              <a:rPr sz="2300" dirty="0"/>
              <a:t>Admin</a:t>
            </a:r>
            <a:r>
              <a:rPr sz="2300" spc="-110" dirty="0"/>
              <a:t> </a:t>
            </a:r>
            <a:r>
              <a:rPr sz="2300" spc="-10" dirty="0"/>
              <a:t>Administration</a:t>
            </a:r>
            <a:endParaRPr sz="2300"/>
          </a:p>
        </p:txBody>
      </p:sp>
      <p:sp>
        <p:nvSpPr>
          <p:cNvPr id="3" name="object 3"/>
          <p:cNvSpPr txBox="1"/>
          <p:nvPr/>
        </p:nvSpPr>
        <p:spPr>
          <a:xfrm>
            <a:off x="602953" y="2698501"/>
            <a:ext cx="3924935" cy="2957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8920" marR="5080" indent="-236854">
              <a:lnSpc>
                <a:spcPct val="102299"/>
              </a:lnSpc>
              <a:spcBef>
                <a:spcPts val="95"/>
              </a:spcBef>
              <a:buClr>
                <a:srgbClr val="1187C3"/>
              </a:buClr>
              <a:buSzPct val="148275"/>
              <a:buFont typeface="Arial MT"/>
              <a:buChar char="•"/>
              <a:tabLst>
                <a:tab pos="248920" algn="l"/>
              </a:tabLst>
            </a:pPr>
            <a:r>
              <a:rPr sz="1450" dirty="0">
                <a:latin typeface="Corbel"/>
                <a:cs typeface="Corbel"/>
              </a:rPr>
              <a:t>Combine</a:t>
            </a:r>
            <a:r>
              <a:rPr sz="1450" spc="8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powerful</a:t>
            </a:r>
            <a:r>
              <a:rPr sz="1450" spc="7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filters</a:t>
            </a:r>
            <a:r>
              <a:rPr sz="1450" spc="5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(Title,</a:t>
            </a:r>
            <a:r>
              <a:rPr sz="1450" spc="-4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Author,</a:t>
            </a:r>
            <a:r>
              <a:rPr sz="1450" spc="70" dirty="0">
                <a:latin typeface="Corbel"/>
                <a:cs typeface="Corbel"/>
              </a:rPr>
              <a:t> </a:t>
            </a:r>
            <a:r>
              <a:rPr sz="1450" spc="-10" dirty="0">
                <a:latin typeface="Corbel"/>
                <a:cs typeface="Corbel"/>
              </a:rPr>
              <a:t>ISBN, </a:t>
            </a:r>
            <a:r>
              <a:rPr sz="1450" dirty="0">
                <a:latin typeface="Corbel"/>
                <a:cs typeface="Corbel"/>
              </a:rPr>
              <a:t>Category)</a:t>
            </a:r>
            <a:r>
              <a:rPr sz="1450" spc="9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with</a:t>
            </a:r>
            <a:r>
              <a:rPr sz="1450" spc="11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top-bar</a:t>
            </a:r>
            <a:r>
              <a:rPr sz="1450" spc="10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actions—</a:t>
            </a:r>
            <a:r>
              <a:rPr sz="1450" spc="-10" dirty="0">
                <a:latin typeface="Corbel"/>
                <a:cs typeface="Corbel"/>
              </a:rPr>
              <a:t>add/edit</a:t>
            </a:r>
            <a:r>
              <a:rPr sz="1450" spc="50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books,</a:t>
            </a:r>
            <a:r>
              <a:rPr sz="1450" spc="10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issue</a:t>
            </a:r>
            <a:r>
              <a:rPr sz="1450" spc="8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items,</a:t>
            </a:r>
            <a:r>
              <a:rPr sz="1450" spc="6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and</a:t>
            </a:r>
            <a:r>
              <a:rPr sz="1450" spc="12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manage</a:t>
            </a:r>
            <a:r>
              <a:rPr sz="1450" spc="6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categories—</a:t>
            </a:r>
            <a:r>
              <a:rPr sz="1450" spc="-25" dirty="0">
                <a:latin typeface="Corbel"/>
                <a:cs typeface="Corbel"/>
              </a:rPr>
              <a:t>all </a:t>
            </a:r>
            <a:r>
              <a:rPr sz="1450" dirty="0">
                <a:latin typeface="Corbel"/>
                <a:cs typeface="Corbel"/>
              </a:rPr>
              <a:t>from</a:t>
            </a:r>
            <a:r>
              <a:rPr sz="1450" spc="4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a</a:t>
            </a:r>
            <a:r>
              <a:rPr sz="1450" spc="6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single,</a:t>
            </a:r>
            <a:r>
              <a:rPr sz="1450" spc="3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intuitive</a:t>
            </a:r>
            <a:r>
              <a:rPr sz="1450" spc="50" dirty="0">
                <a:latin typeface="Corbel"/>
                <a:cs typeface="Corbel"/>
              </a:rPr>
              <a:t> </a:t>
            </a:r>
            <a:r>
              <a:rPr sz="1450" spc="-10" dirty="0">
                <a:latin typeface="Corbel"/>
                <a:cs typeface="Corbel"/>
              </a:rPr>
              <a:t>interface.</a:t>
            </a:r>
            <a:endParaRPr sz="1450">
              <a:latin typeface="Corbel"/>
              <a:cs typeface="Corbel"/>
            </a:endParaRPr>
          </a:p>
          <a:p>
            <a:pPr marL="248920" marR="363220" indent="-236854" algn="just">
              <a:lnSpc>
                <a:spcPct val="102299"/>
              </a:lnSpc>
              <a:spcBef>
                <a:spcPts val="860"/>
              </a:spcBef>
              <a:buClr>
                <a:srgbClr val="1187C3"/>
              </a:buClr>
              <a:buSzPct val="148275"/>
              <a:buFont typeface="Arial MT"/>
              <a:buChar char="•"/>
              <a:tabLst>
                <a:tab pos="248920" algn="l"/>
              </a:tabLst>
            </a:pPr>
            <a:r>
              <a:rPr sz="1450" dirty="0">
                <a:latin typeface="Corbel"/>
                <a:cs typeface="Corbel"/>
              </a:rPr>
              <a:t>Instantly</a:t>
            </a:r>
            <a:r>
              <a:rPr sz="1450" spc="5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see</a:t>
            </a:r>
            <a:r>
              <a:rPr sz="1450" spc="8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live</a:t>
            </a:r>
            <a:r>
              <a:rPr sz="1450" spc="6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“</a:t>
            </a:r>
            <a:r>
              <a:rPr sz="1450" b="1" dirty="0">
                <a:latin typeface="Corbel"/>
                <a:cs typeface="Corbel"/>
              </a:rPr>
              <a:t>Available/Total</a:t>
            </a:r>
            <a:r>
              <a:rPr sz="1450" dirty="0">
                <a:latin typeface="Corbel"/>
                <a:cs typeface="Corbel"/>
              </a:rPr>
              <a:t>” </a:t>
            </a:r>
            <a:r>
              <a:rPr sz="1450" spc="-10" dirty="0">
                <a:latin typeface="Corbel"/>
                <a:cs typeface="Corbel"/>
              </a:rPr>
              <a:t>counts </a:t>
            </a:r>
            <a:r>
              <a:rPr sz="1450" dirty="0">
                <a:latin typeface="Corbel"/>
                <a:cs typeface="Corbel"/>
              </a:rPr>
              <a:t>alongside</a:t>
            </a:r>
            <a:r>
              <a:rPr sz="1450" spc="6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key</a:t>
            </a:r>
            <a:r>
              <a:rPr sz="1450" spc="7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summary</a:t>
            </a:r>
            <a:r>
              <a:rPr sz="1450" spc="4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cards</a:t>
            </a:r>
            <a:r>
              <a:rPr sz="1450" spc="4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(total</a:t>
            </a:r>
            <a:r>
              <a:rPr sz="1450" spc="70" dirty="0">
                <a:latin typeface="Corbel"/>
                <a:cs typeface="Corbel"/>
              </a:rPr>
              <a:t> </a:t>
            </a:r>
            <a:r>
              <a:rPr sz="1450" spc="-10" dirty="0">
                <a:latin typeface="Corbel"/>
                <a:cs typeface="Corbel"/>
              </a:rPr>
              <a:t>books, </a:t>
            </a:r>
            <a:r>
              <a:rPr sz="1450" dirty="0">
                <a:latin typeface="Corbel"/>
                <a:cs typeface="Corbel"/>
              </a:rPr>
              <a:t>registered</a:t>
            </a:r>
            <a:r>
              <a:rPr sz="1450" spc="3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students,</a:t>
            </a:r>
            <a:r>
              <a:rPr sz="1450" spc="8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active</a:t>
            </a:r>
            <a:r>
              <a:rPr sz="1450" spc="9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issues,</a:t>
            </a:r>
            <a:r>
              <a:rPr sz="1450" spc="60" dirty="0">
                <a:latin typeface="Corbel"/>
                <a:cs typeface="Corbel"/>
              </a:rPr>
              <a:t> </a:t>
            </a:r>
            <a:r>
              <a:rPr sz="1450" spc="-10" dirty="0">
                <a:latin typeface="Corbel"/>
                <a:cs typeface="Corbel"/>
              </a:rPr>
              <a:t>overdue </a:t>
            </a:r>
            <a:r>
              <a:rPr sz="1450" dirty="0">
                <a:latin typeface="Corbel"/>
                <a:cs typeface="Corbel"/>
              </a:rPr>
              <a:t>items)</a:t>
            </a:r>
            <a:r>
              <a:rPr sz="1450" spc="3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to</a:t>
            </a:r>
            <a:r>
              <a:rPr sz="1450" spc="4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gauge</a:t>
            </a:r>
            <a:r>
              <a:rPr sz="1450" spc="5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library</a:t>
            </a:r>
            <a:r>
              <a:rPr sz="1450" spc="3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status</a:t>
            </a:r>
            <a:r>
              <a:rPr sz="1450" spc="6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at</a:t>
            </a:r>
            <a:r>
              <a:rPr sz="1450" spc="5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a</a:t>
            </a:r>
            <a:r>
              <a:rPr sz="1450" spc="50" dirty="0">
                <a:latin typeface="Corbel"/>
                <a:cs typeface="Corbel"/>
              </a:rPr>
              <a:t> </a:t>
            </a:r>
            <a:r>
              <a:rPr sz="1450" spc="-10" dirty="0">
                <a:latin typeface="Corbel"/>
                <a:cs typeface="Corbel"/>
              </a:rPr>
              <a:t>glance.</a:t>
            </a:r>
            <a:endParaRPr sz="1450">
              <a:latin typeface="Corbel"/>
              <a:cs typeface="Corbel"/>
            </a:endParaRPr>
          </a:p>
          <a:p>
            <a:pPr marL="248920" marR="8255" indent="-236854">
              <a:lnSpc>
                <a:spcPct val="102299"/>
              </a:lnSpc>
              <a:spcBef>
                <a:spcPts val="860"/>
              </a:spcBef>
              <a:buClr>
                <a:srgbClr val="1187C3"/>
              </a:buClr>
              <a:buSzPct val="148275"/>
              <a:buFont typeface="Arial MT"/>
              <a:buChar char="•"/>
              <a:tabLst>
                <a:tab pos="248920" algn="l"/>
              </a:tabLst>
            </a:pPr>
            <a:r>
              <a:rPr sz="1450" dirty="0">
                <a:latin typeface="Corbel"/>
                <a:cs typeface="Corbel"/>
              </a:rPr>
              <a:t>With</a:t>
            </a:r>
            <a:r>
              <a:rPr sz="1450" spc="4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one-click</a:t>
            </a:r>
            <a:r>
              <a:rPr sz="1450" spc="4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buttons</a:t>
            </a:r>
            <a:r>
              <a:rPr sz="1450" spc="6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you</a:t>
            </a:r>
            <a:r>
              <a:rPr sz="1450" spc="6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can</a:t>
            </a:r>
            <a:r>
              <a:rPr sz="1450" spc="5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view,</a:t>
            </a:r>
            <a:r>
              <a:rPr sz="1450" spc="6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edit</a:t>
            </a:r>
            <a:r>
              <a:rPr sz="1450" spc="45" dirty="0">
                <a:latin typeface="Corbel"/>
                <a:cs typeface="Corbel"/>
              </a:rPr>
              <a:t> </a:t>
            </a:r>
            <a:r>
              <a:rPr sz="1450" spc="-25" dirty="0">
                <a:latin typeface="Corbel"/>
                <a:cs typeface="Corbel"/>
              </a:rPr>
              <a:t>or </a:t>
            </a:r>
            <a:r>
              <a:rPr sz="1450" dirty="0">
                <a:latin typeface="Corbel"/>
                <a:cs typeface="Corbel"/>
              </a:rPr>
              <a:t>delete</a:t>
            </a:r>
            <a:r>
              <a:rPr sz="1450" spc="5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records,</a:t>
            </a:r>
            <a:r>
              <a:rPr sz="1450" spc="3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export</a:t>
            </a:r>
            <a:r>
              <a:rPr sz="1450" spc="-1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CSV,</a:t>
            </a:r>
            <a:r>
              <a:rPr sz="1450" spc="5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print</a:t>
            </a:r>
            <a:r>
              <a:rPr sz="1450" spc="2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lists,</a:t>
            </a:r>
            <a:r>
              <a:rPr sz="1450" spc="30" dirty="0">
                <a:latin typeface="Corbel"/>
                <a:cs typeface="Corbel"/>
              </a:rPr>
              <a:t> </a:t>
            </a:r>
            <a:r>
              <a:rPr sz="1450" spc="-25" dirty="0">
                <a:latin typeface="Corbel"/>
                <a:cs typeface="Corbel"/>
              </a:rPr>
              <a:t>and </a:t>
            </a:r>
            <a:r>
              <a:rPr sz="1450" dirty="0">
                <a:latin typeface="Corbel"/>
                <a:cs typeface="Corbel"/>
              </a:rPr>
              <a:t>review</a:t>
            </a:r>
            <a:r>
              <a:rPr sz="1450" spc="9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recent</a:t>
            </a:r>
            <a:r>
              <a:rPr sz="1450" spc="6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transactions—then</a:t>
            </a:r>
            <a:r>
              <a:rPr sz="1450" spc="6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drill</a:t>
            </a:r>
            <a:r>
              <a:rPr sz="1450" spc="3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into</a:t>
            </a:r>
            <a:r>
              <a:rPr sz="1450" spc="7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a</a:t>
            </a:r>
            <a:r>
              <a:rPr sz="1450" spc="75" dirty="0">
                <a:latin typeface="Corbel"/>
                <a:cs typeface="Corbel"/>
              </a:rPr>
              <a:t> </a:t>
            </a:r>
            <a:r>
              <a:rPr sz="1450" spc="-20" dirty="0">
                <a:latin typeface="Corbel"/>
                <a:cs typeface="Corbel"/>
              </a:rPr>
              <a:t>full </a:t>
            </a:r>
            <a:r>
              <a:rPr sz="1450" dirty="0">
                <a:latin typeface="Corbel"/>
                <a:cs typeface="Corbel"/>
              </a:rPr>
              <a:t>history</a:t>
            </a:r>
            <a:r>
              <a:rPr sz="1450" spc="5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with</a:t>
            </a:r>
            <a:r>
              <a:rPr sz="1450" spc="7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“</a:t>
            </a:r>
            <a:r>
              <a:rPr sz="1450" b="1" dirty="0">
                <a:latin typeface="Corbel"/>
                <a:cs typeface="Corbel"/>
              </a:rPr>
              <a:t>View </a:t>
            </a:r>
            <a:r>
              <a:rPr sz="1450" b="1" spc="-20" dirty="0">
                <a:latin typeface="Corbel"/>
                <a:cs typeface="Corbel"/>
              </a:rPr>
              <a:t>All</a:t>
            </a:r>
            <a:r>
              <a:rPr sz="1450" spc="-20" dirty="0">
                <a:latin typeface="Corbel"/>
                <a:cs typeface="Corbel"/>
              </a:rPr>
              <a:t>.”</a:t>
            </a:r>
            <a:endParaRPr sz="1450">
              <a:latin typeface="Corbel"/>
              <a:cs typeface="Corbe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25340" y="1627632"/>
            <a:ext cx="5433059" cy="226009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06111" y="3945636"/>
            <a:ext cx="5352287" cy="22600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8555" rIns="0" bIns="0" rtlCol="0">
            <a:spAutoFit/>
          </a:bodyPr>
          <a:lstStyle/>
          <a:p>
            <a:pPr marL="151130">
              <a:lnSpc>
                <a:spcPct val="100000"/>
              </a:lnSpc>
              <a:spcBef>
                <a:spcPts val="114"/>
              </a:spcBef>
            </a:pPr>
            <a:r>
              <a:rPr sz="2300" dirty="0"/>
              <a:t>View</a:t>
            </a:r>
            <a:r>
              <a:rPr sz="2300" spc="-30" dirty="0"/>
              <a:t> </a:t>
            </a:r>
            <a:r>
              <a:rPr sz="2300" spc="-20" dirty="0"/>
              <a:t>Books</a:t>
            </a:r>
            <a:endParaRPr sz="2300"/>
          </a:p>
        </p:txBody>
      </p:sp>
      <p:sp>
        <p:nvSpPr>
          <p:cNvPr id="3" name="object 3"/>
          <p:cNvSpPr txBox="1"/>
          <p:nvPr/>
        </p:nvSpPr>
        <p:spPr>
          <a:xfrm>
            <a:off x="186917" y="2781356"/>
            <a:ext cx="5495290" cy="2383790"/>
          </a:xfrm>
          <a:prstGeom prst="rect">
            <a:avLst/>
          </a:prstGeom>
        </p:spPr>
        <p:txBody>
          <a:bodyPr vert="horz" wrap="square" lIns="0" tIns="26669" rIns="0" bIns="0" rtlCol="0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209"/>
              </a:spcBef>
              <a:buClr>
                <a:srgbClr val="1187C3"/>
              </a:buClr>
              <a:buSzPct val="142424"/>
              <a:buFont typeface="Arial MT"/>
              <a:buChar char="•"/>
              <a:tabLst>
                <a:tab pos="248285" algn="l"/>
              </a:tabLst>
            </a:pPr>
            <a:r>
              <a:rPr sz="1650" dirty="0">
                <a:latin typeface="Corbel"/>
                <a:cs typeface="Corbel"/>
              </a:rPr>
              <a:t>Displays</a:t>
            </a:r>
            <a:r>
              <a:rPr sz="1650" spc="-55" dirty="0">
                <a:latin typeface="Corbel"/>
                <a:cs typeface="Corbel"/>
              </a:rPr>
              <a:t> </a:t>
            </a:r>
            <a:r>
              <a:rPr sz="1650" dirty="0">
                <a:latin typeface="Corbel"/>
                <a:cs typeface="Corbel"/>
              </a:rPr>
              <a:t>all</a:t>
            </a:r>
            <a:r>
              <a:rPr sz="1650" spc="-45" dirty="0">
                <a:latin typeface="Corbel"/>
                <a:cs typeface="Corbel"/>
              </a:rPr>
              <a:t> </a:t>
            </a:r>
            <a:r>
              <a:rPr sz="1650" dirty="0">
                <a:latin typeface="Corbel"/>
                <a:cs typeface="Corbel"/>
              </a:rPr>
              <a:t>book</a:t>
            </a:r>
            <a:r>
              <a:rPr sz="1650" spc="-40" dirty="0">
                <a:latin typeface="Corbel"/>
                <a:cs typeface="Corbel"/>
              </a:rPr>
              <a:t> </a:t>
            </a:r>
            <a:r>
              <a:rPr sz="1650" dirty="0">
                <a:latin typeface="Corbel"/>
                <a:cs typeface="Corbel"/>
              </a:rPr>
              <a:t>requests</a:t>
            </a:r>
            <a:r>
              <a:rPr sz="1650" spc="-40" dirty="0">
                <a:latin typeface="Corbel"/>
                <a:cs typeface="Corbel"/>
              </a:rPr>
              <a:t> </a:t>
            </a:r>
            <a:r>
              <a:rPr sz="1650" dirty="0">
                <a:latin typeface="Corbel"/>
                <a:cs typeface="Corbel"/>
              </a:rPr>
              <a:t>with</a:t>
            </a:r>
            <a:r>
              <a:rPr sz="1650" spc="-35" dirty="0">
                <a:latin typeface="Corbel"/>
                <a:cs typeface="Corbel"/>
              </a:rPr>
              <a:t> </a:t>
            </a:r>
            <a:r>
              <a:rPr sz="1650" dirty="0">
                <a:latin typeface="Corbel"/>
                <a:cs typeface="Corbel"/>
              </a:rPr>
              <a:t>student</a:t>
            </a:r>
            <a:r>
              <a:rPr sz="1650" spc="-40" dirty="0">
                <a:latin typeface="Corbel"/>
                <a:cs typeface="Corbel"/>
              </a:rPr>
              <a:t> </a:t>
            </a:r>
            <a:r>
              <a:rPr sz="1650" dirty="0">
                <a:latin typeface="Corbel"/>
                <a:cs typeface="Corbel"/>
              </a:rPr>
              <a:t>details</a:t>
            </a:r>
            <a:r>
              <a:rPr sz="1650" spc="-50" dirty="0">
                <a:latin typeface="Corbel"/>
                <a:cs typeface="Corbel"/>
              </a:rPr>
              <a:t> </a:t>
            </a:r>
            <a:r>
              <a:rPr sz="1650" dirty="0">
                <a:latin typeface="Corbel"/>
                <a:cs typeface="Corbel"/>
              </a:rPr>
              <a:t>and</a:t>
            </a:r>
            <a:r>
              <a:rPr sz="1650" spc="-40" dirty="0">
                <a:latin typeface="Corbel"/>
                <a:cs typeface="Corbel"/>
              </a:rPr>
              <a:t> </a:t>
            </a:r>
            <a:r>
              <a:rPr sz="1650" spc="-10" dirty="0">
                <a:latin typeface="Corbel"/>
                <a:cs typeface="Corbel"/>
              </a:rPr>
              <a:t>status.</a:t>
            </a:r>
            <a:endParaRPr sz="1650">
              <a:latin typeface="Corbel"/>
              <a:cs typeface="Corbel"/>
            </a:endParaRPr>
          </a:p>
          <a:p>
            <a:pPr marL="248285" indent="-235585">
              <a:lnSpc>
                <a:spcPct val="100000"/>
              </a:lnSpc>
              <a:spcBef>
                <a:spcPts val="885"/>
              </a:spcBef>
              <a:buClr>
                <a:srgbClr val="1187C3"/>
              </a:buClr>
              <a:buSzPct val="142424"/>
              <a:buFont typeface="Arial MT"/>
              <a:buChar char="•"/>
              <a:tabLst>
                <a:tab pos="248285" algn="l"/>
              </a:tabLst>
            </a:pPr>
            <a:r>
              <a:rPr sz="1650" dirty="0">
                <a:latin typeface="Corbel"/>
                <a:cs typeface="Corbel"/>
              </a:rPr>
              <a:t>Allows</a:t>
            </a:r>
            <a:r>
              <a:rPr sz="1650" spc="-45" dirty="0">
                <a:latin typeface="Corbel"/>
                <a:cs typeface="Corbel"/>
              </a:rPr>
              <a:t> </a:t>
            </a:r>
            <a:r>
              <a:rPr sz="1650" dirty="0">
                <a:latin typeface="Corbel"/>
                <a:cs typeface="Corbel"/>
              </a:rPr>
              <a:t>admin</a:t>
            </a:r>
            <a:r>
              <a:rPr sz="1650" spc="-50" dirty="0">
                <a:latin typeface="Corbel"/>
                <a:cs typeface="Corbel"/>
              </a:rPr>
              <a:t> </a:t>
            </a:r>
            <a:r>
              <a:rPr sz="1650" dirty="0">
                <a:latin typeface="Corbel"/>
                <a:cs typeface="Corbel"/>
              </a:rPr>
              <a:t>to</a:t>
            </a:r>
            <a:r>
              <a:rPr sz="1650" spc="-25" dirty="0">
                <a:latin typeface="Corbel"/>
                <a:cs typeface="Corbel"/>
              </a:rPr>
              <a:t> </a:t>
            </a:r>
            <a:r>
              <a:rPr sz="1650" dirty="0">
                <a:latin typeface="Corbel"/>
                <a:cs typeface="Corbel"/>
              </a:rPr>
              <a:t>monitor</a:t>
            </a:r>
            <a:r>
              <a:rPr sz="1650" spc="-65" dirty="0">
                <a:latin typeface="Corbel"/>
                <a:cs typeface="Corbel"/>
              </a:rPr>
              <a:t> </a:t>
            </a:r>
            <a:r>
              <a:rPr sz="1650" dirty="0">
                <a:latin typeface="Corbel"/>
                <a:cs typeface="Corbel"/>
              </a:rPr>
              <a:t>and</a:t>
            </a:r>
            <a:r>
              <a:rPr sz="1650" spc="-25" dirty="0">
                <a:latin typeface="Corbel"/>
                <a:cs typeface="Corbel"/>
              </a:rPr>
              <a:t> </a:t>
            </a:r>
            <a:r>
              <a:rPr sz="1650" dirty="0">
                <a:latin typeface="Corbel"/>
                <a:cs typeface="Corbel"/>
              </a:rPr>
              <a:t>process</a:t>
            </a:r>
            <a:r>
              <a:rPr sz="1650" spc="-30" dirty="0">
                <a:latin typeface="Corbel"/>
                <a:cs typeface="Corbel"/>
              </a:rPr>
              <a:t> </a:t>
            </a:r>
            <a:r>
              <a:rPr sz="1650" dirty="0">
                <a:latin typeface="Corbel"/>
                <a:cs typeface="Corbel"/>
              </a:rPr>
              <a:t>requests</a:t>
            </a:r>
            <a:r>
              <a:rPr sz="1650" spc="-30" dirty="0">
                <a:latin typeface="Corbel"/>
                <a:cs typeface="Corbel"/>
              </a:rPr>
              <a:t> </a:t>
            </a:r>
            <a:r>
              <a:rPr sz="1650" spc="-10" dirty="0">
                <a:latin typeface="Corbel"/>
                <a:cs typeface="Corbel"/>
              </a:rPr>
              <a:t>efficiently.</a:t>
            </a:r>
            <a:endParaRPr sz="1650">
              <a:latin typeface="Corbel"/>
              <a:cs typeface="Corbel"/>
            </a:endParaRPr>
          </a:p>
          <a:p>
            <a:pPr marL="248285" indent="-235585">
              <a:lnSpc>
                <a:spcPct val="100000"/>
              </a:lnSpc>
              <a:spcBef>
                <a:spcPts val="890"/>
              </a:spcBef>
              <a:buClr>
                <a:srgbClr val="1187C3"/>
              </a:buClr>
              <a:buSzPct val="142424"/>
              <a:buFont typeface="Arial MT"/>
              <a:buChar char="•"/>
              <a:tabLst>
                <a:tab pos="248285" algn="l"/>
              </a:tabLst>
            </a:pPr>
            <a:r>
              <a:rPr sz="1650" dirty="0">
                <a:latin typeface="Corbel"/>
                <a:cs typeface="Corbel"/>
              </a:rPr>
              <a:t>Provides</a:t>
            </a:r>
            <a:r>
              <a:rPr sz="1650" spc="-40" dirty="0">
                <a:latin typeface="Corbel"/>
                <a:cs typeface="Corbel"/>
              </a:rPr>
              <a:t> </a:t>
            </a:r>
            <a:r>
              <a:rPr sz="1650" spc="-10" dirty="0">
                <a:latin typeface="Corbel"/>
                <a:cs typeface="Corbel"/>
              </a:rPr>
              <a:t>status-</a:t>
            </a:r>
            <a:r>
              <a:rPr sz="1650" dirty="0">
                <a:latin typeface="Corbel"/>
                <a:cs typeface="Corbel"/>
              </a:rPr>
              <a:t>based</a:t>
            </a:r>
            <a:r>
              <a:rPr sz="1650" spc="-40" dirty="0">
                <a:latin typeface="Corbel"/>
                <a:cs typeface="Corbel"/>
              </a:rPr>
              <a:t> </a:t>
            </a:r>
            <a:r>
              <a:rPr sz="1650" dirty="0">
                <a:latin typeface="Corbel"/>
                <a:cs typeface="Corbel"/>
              </a:rPr>
              <a:t>filtering</a:t>
            </a:r>
            <a:r>
              <a:rPr sz="1650" spc="-50" dirty="0">
                <a:latin typeface="Corbel"/>
                <a:cs typeface="Corbel"/>
              </a:rPr>
              <a:t> </a:t>
            </a:r>
            <a:r>
              <a:rPr sz="1650" dirty="0">
                <a:latin typeface="Corbel"/>
                <a:cs typeface="Corbel"/>
              </a:rPr>
              <a:t>to</a:t>
            </a:r>
            <a:r>
              <a:rPr sz="1650" spc="-20" dirty="0">
                <a:latin typeface="Corbel"/>
                <a:cs typeface="Corbel"/>
              </a:rPr>
              <a:t> </a:t>
            </a:r>
            <a:r>
              <a:rPr sz="1650" dirty="0">
                <a:latin typeface="Corbel"/>
                <a:cs typeface="Corbel"/>
              </a:rPr>
              <a:t>quickly</a:t>
            </a:r>
            <a:r>
              <a:rPr sz="1650" spc="-30" dirty="0">
                <a:latin typeface="Corbel"/>
                <a:cs typeface="Corbel"/>
              </a:rPr>
              <a:t> </a:t>
            </a:r>
            <a:r>
              <a:rPr sz="1650" dirty="0">
                <a:latin typeface="Corbel"/>
                <a:cs typeface="Corbel"/>
              </a:rPr>
              <a:t>view</a:t>
            </a:r>
            <a:r>
              <a:rPr sz="1650" spc="-35" dirty="0">
                <a:latin typeface="Corbel"/>
                <a:cs typeface="Corbel"/>
              </a:rPr>
              <a:t> </a:t>
            </a:r>
            <a:r>
              <a:rPr sz="1650" spc="-10" dirty="0">
                <a:latin typeface="Corbel"/>
                <a:cs typeface="Corbel"/>
              </a:rPr>
              <a:t>requests</a:t>
            </a:r>
            <a:endParaRPr sz="1650">
              <a:latin typeface="Corbel"/>
              <a:cs typeface="Corbel"/>
            </a:endParaRPr>
          </a:p>
          <a:p>
            <a:pPr marL="248285" marR="5080" indent="-236220">
              <a:lnSpc>
                <a:spcPct val="100000"/>
              </a:lnSpc>
              <a:spcBef>
                <a:spcPts val="885"/>
              </a:spcBef>
              <a:buClr>
                <a:srgbClr val="1187C3"/>
              </a:buClr>
              <a:buSzPct val="142424"/>
              <a:buFont typeface="Arial MT"/>
              <a:buChar char="•"/>
              <a:tabLst>
                <a:tab pos="248285" algn="l"/>
              </a:tabLst>
            </a:pPr>
            <a:r>
              <a:rPr sz="1650" dirty="0">
                <a:latin typeface="Corbel"/>
                <a:cs typeface="Corbel"/>
              </a:rPr>
              <a:t>Ensure easy</a:t>
            </a:r>
            <a:r>
              <a:rPr sz="1650" spc="-35" dirty="0">
                <a:latin typeface="Corbel"/>
                <a:cs typeface="Corbel"/>
              </a:rPr>
              <a:t> </a:t>
            </a:r>
            <a:r>
              <a:rPr sz="1650" spc="-10" dirty="0">
                <a:latin typeface="Corbel"/>
                <a:cs typeface="Corbel"/>
              </a:rPr>
              <a:t>management</a:t>
            </a:r>
            <a:r>
              <a:rPr sz="1650" spc="-40" dirty="0">
                <a:latin typeface="Corbel"/>
                <a:cs typeface="Corbel"/>
              </a:rPr>
              <a:t> </a:t>
            </a:r>
            <a:r>
              <a:rPr sz="1650" dirty="0">
                <a:latin typeface="Corbel"/>
                <a:cs typeface="Corbel"/>
              </a:rPr>
              <a:t>of</a:t>
            </a:r>
            <a:r>
              <a:rPr sz="1650" spc="-15" dirty="0">
                <a:latin typeface="Corbel"/>
                <a:cs typeface="Corbel"/>
              </a:rPr>
              <a:t> </a:t>
            </a:r>
            <a:r>
              <a:rPr sz="1650" dirty="0">
                <a:latin typeface="Corbel"/>
                <a:cs typeface="Corbel"/>
              </a:rPr>
              <a:t>approved,</a:t>
            </a:r>
            <a:r>
              <a:rPr sz="1650" spc="-35" dirty="0">
                <a:latin typeface="Corbel"/>
                <a:cs typeface="Corbel"/>
              </a:rPr>
              <a:t> </a:t>
            </a:r>
            <a:r>
              <a:rPr sz="1650" b="1" spc="-10" dirty="0">
                <a:latin typeface="Corbel"/>
                <a:cs typeface="Corbel"/>
              </a:rPr>
              <a:t>pending,</a:t>
            </a:r>
            <a:r>
              <a:rPr sz="1650" b="1" spc="-40" dirty="0">
                <a:latin typeface="Corbel"/>
                <a:cs typeface="Corbel"/>
              </a:rPr>
              <a:t> </a:t>
            </a:r>
            <a:r>
              <a:rPr sz="1650" dirty="0">
                <a:latin typeface="Corbel"/>
                <a:cs typeface="Corbel"/>
              </a:rPr>
              <a:t>or</a:t>
            </a:r>
            <a:r>
              <a:rPr sz="1650" spc="-15" dirty="0">
                <a:latin typeface="Corbel"/>
                <a:cs typeface="Corbel"/>
              </a:rPr>
              <a:t> </a:t>
            </a:r>
            <a:r>
              <a:rPr sz="1650" b="1" spc="-10" dirty="0">
                <a:latin typeface="Corbel"/>
                <a:cs typeface="Corbel"/>
              </a:rPr>
              <a:t>rejected books.</a:t>
            </a:r>
            <a:endParaRPr sz="1650">
              <a:latin typeface="Corbel"/>
              <a:cs typeface="Corbel"/>
            </a:endParaRPr>
          </a:p>
          <a:p>
            <a:pPr marL="248285" indent="-235585">
              <a:lnSpc>
                <a:spcPct val="100000"/>
              </a:lnSpc>
              <a:spcBef>
                <a:spcPts val="900"/>
              </a:spcBef>
              <a:buClr>
                <a:srgbClr val="1187C3"/>
              </a:buClr>
              <a:buSzPct val="142424"/>
              <a:buFont typeface="Arial MT"/>
              <a:buChar char="•"/>
              <a:tabLst>
                <a:tab pos="248285" algn="l"/>
              </a:tabLst>
            </a:pPr>
            <a:r>
              <a:rPr sz="1650" dirty="0">
                <a:latin typeface="Corbel"/>
                <a:cs typeface="Corbel"/>
              </a:rPr>
              <a:t>Actions</a:t>
            </a:r>
            <a:r>
              <a:rPr sz="1650" spc="-60" dirty="0">
                <a:latin typeface="Corbel"/>
                <a:cs typeface="Corbel"/>
              </a:rPr>
              <a:t> </a:t>
            </a:r>
            <a:r>
              <a:rPr sz="1650" dirty="0">
                <a:latin typeface="Corbel"/>
                <a:cs typeface="Corbel"/>
              </a:rPr>
              <a:t>can</a:t>
            </a:r>
            <a:r>
              <a:rPr sz="1650" spc="-55" dirty="0">
                <a:latin typeface="Corbel"/>
                <a:cs typeface="Corbel"/>
              </a:rPr>
              <a:t> </a:t>
            </a:r>
            <a:r>
              <a:rPr sz="1650" dirty="0">
                <a:latin typeface="Corbel"/>
                <a:cs typeface="Corbel"/>
              </a:rPr>
              <a:t>be</a:t>
            </a:r>
            <a:r>
              <a:rPr sz="1650" spc="-35" dirty="0">
                <a:latin typeface="Corbel"/>
                <a:cs typeface="Corbel"/>
              </a:rPr>
              <a:t> </a:t>
            </a:r>
            <a:r>
              <a:rPr sz="1650" dirty="0">
                <a:latin typeface="Corbel"/>
                <a:cs typeface="Corbel"/>
              </a:rPr>
              <a:t>performed</a:t>
            </a:r>
            <a:r>
              <a:rPr sz="1650" spc="-30" dirty="0">
                <a:latin typeface="Corbel"/>
                <a:cs typeface="Corbel"/>
              </a:rPr>
              <a:t> </a:t>
            </a:r>
            <a:r>
              <a:rPr sz="1650" dirty="0">
                <a:latin typeface="Corbel"/>
                <a:cs typeface="Corbel"/>
              </a:rPr>
              <a:t>by</a:t>
            </a:r>
            <a:r>
              <a:rPr sz="1650" spc="-25" dirty="0">
                <a:latin typeface="Corbel"/>
                <a:cs typeface="Corbel"/>
              </a:rPr>
              <a:t> </a:t>
            </a:r>
            <a:r>
              <a:rPr sz="1650" dirty="0">
                <a:latin typeface="Corbel"/>
                <a:cs typeface="Corbel"/>
              </a:rPr>
              <a:t>the</a:t>
            </a:r>
            <a:r>
              <a:rPr sz="1650" spc="-20" dirty="0">
                <a:latin typeface="Corbel"/>
                <a:cs typeface="Corbel"/>
              </a:rPr>
              <a:t> </a:t>
            </a:r>
            <a:r>
              <a:rPr sz="1650" dirty="0">
                <a:latin typeface="Corbel"/>
                <a:cs typeface="Corbel"/>
              </a:rPr>
              <a:t>admin</a:t>
            </a:r>
            <a:r>
              <a:rPr sz="1650" spc="-50" dirty="0">
                <a:latin typeface="Corbel"/>
                <a:cs typeface="Corbel"/>
              </a:rPr>
              <a:t> </a:t>
            </a:r>
            <a:r>
              <a:rPr sz="1650" dirty="0">
                <a:latin typeface="Corbel"/>
                <a:cs typeface="Corbel"/>
              </a:rPr>
              <a:t>with</a:t>
            </a:r>
            <a:r>
              <a:rPr sz="1650" spc="-30" dirty="0">
                <a:latin typeface="Corbel"/>
                <a:cs typeface="Corbel"/>
              </a:rPr>
              <a:t> </a:t>
            </a:r>
            <a:r>
              <a:rPr sz="1650" dirty="0">
                <a:latin typeface="Corbel"/>
                <a:cs typeface="Corbel"/>
              </a:rPr>
              <a:t>secure</a:t>
            </a:r>
            <a:r>
              <a:rPr sz="1650" spc="-20" dirty="0">
                <a:latin typeface="Corbel"/>
                <a:cs typeface="Corbel"/>
              </a:rPr>
              <a:t> </a:t>
            </a:r>
            <a:r>
              <a:rPr sz="1650" spc="-10" dirty="0">
                <a:latin typeface="Corbel"/>
                <a:cs typeface="Corbel"/>
              </a:rPr>
              <a:t>access.</a:t>
            </a:r>
            <a:endParaRPr sz="1650">
              <a:latin typeface="Corbel"/>
              <a:cs typeface="Corbel"/>
            </a:endParaRPr>
          </a:p>
          <a:p>
            <a:pPr marL="248285" indent="-235585">
              <a:lnSpc>
                <a:spcPct val="100000"/>
              </a:lnSpc>
              <a:spcBef>
                <a:spcPts val="890"/>
              </a:spcBef>
              <a:buClr>
                <a:srgbClr val="1187C3"/>
              </a:buClr>
              <a:buSzPct val="142424"/>
              <a:buFont typeface="Arial MT"/>
              <a:buChar char="•"/>
              <a:tabLst>
                <a:tab pos="248285" algn="l"/>
              </a:tabLst>
            </a:pPr>
            <a:r>
              <a:rPr sz="1650" dirty="0">
                <a:latin typeface="Corbel"/>
                <a:cs typeface="Corbel"/>
              </a:rPr>
              <a:t>Request</a:t>
            </a:r>
            <a:r>
              <a:rPr sz="1650" spc="-20" dirty="0">
                <a:latin typeface="Corbel"/>
                <a:cs typeface="Corbel"/>
              </a:rPr>
              <a:t> </a:t>
            </a:r>
            <a:r>
              <a:rPr sz="1650" dirty="0">
                <a:latin typeface="Corbel"/>
                <a:cs typeface="Corbel"/>
              </a:rPr>
              <a:t>status</a:t>
            </a:r>
            <a:r>
              <a:rPr sz="1650" spc="-35" dirty="0">
                <a:latin typeface="Corbel"/>
                <a:cs typeface="Corbel"/>
              </a:rPr>
              <a:t> </a:t>
            </a:r>
            <a:r>
              <a:rPr sz="1650" dirty="0">
                <a:latin typeface="Corbel"/>
                <a:cs typeface="Corbel"/>
              </a:rPr>
              <a:t>updates</a:t>
            </a:r>
            <a:r>
              <a:rPr sz="1650" spc="-30" dirty="0">
                <a:latin typeface="Corbel"/>
                <a:cs typeface="Corbel"/>
              </a:rPr>
              <a:t> </a:t>
            </a:r>
            <a:r>
              <a:rPr sz="1650" dirty="0">
                <a:latin typeface="Corbel"/>
                <a:cs typeface="Corbel"/>
              </a:rPr>
              <a:t>and</a:t>
            </a:r>
            <a:r>
              <a:rPr sz="1650" spc="-45" dirty="0">
                <a:latin typeface="Corbel"/>
                <a:cs typeface="Corbel"/>
              </a:rPr>
              <a:t> </a:t>
            </a:r>
            <a:r>
              <a:rPr sz="1650" spc="-10" dirty="0">
                <a:latin typeface="Corbel"/>
                <a:cs typeface="Corbel"/>
              </a:rPr>
              <a:t>detailed</a:t>
            </a:r>
            <a:r>
              <a:rPr sz="1650" spc="-50" dirty="0">
                <a:latin typeface="Corbel"/>
                <a:cs typeface="Corbel"/>
              </a:rPr>
              <a:t> </a:t>
            </a:r>
            <a:r>
              <a:rPr sz="1650" dirty="0">
                <a:latin typeface="Corbel"/>
                <a:cs typeface="Corbel"/>
              </a:rPr>
              <a:t>views</a:t>
            </a:r>
            <a:r>
              <a:rPr sz="1650" spc="-45" dirty="0">
                <a:latin typeface="Corbel"/>
                <a:cs typeface="Corbel"/>
              </a:rPr>
              <a:t> </a:t>
            </a:r>
            <a:r>
              <a:rPr sz="1650" dirty="0">
                <a:latin typeface="Corbel"/>
                <a:cs typeface="Corbel"/>
              </a:rPr>
              <a:t>are</a:t>
            </a:r>
            <a:r>
              <a:rPr sz="1650" spc="-20" dirty="0">
                <a:latin typeface="Corbel"/>
                <a:cs typeface="Corbel"/>
              </a:rPr>
              <a:t> </a:t>
            </a:r>
            <a:r>
              <a:rPr sz="1650" spc="-10" dirty="0">
                <a:latin typeface="Corbel"/>
                <a:cs typeface="Corbel"/>
              </a:rPr>
              <a:t>available.</a:t>
            </a:r>
            <a:endParaRPr sz="1650">
              <a:latin typeface="Corbel"/>
              <a:cs typeface="Corbe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8903" y="1498092"/>
            <a:ext cx="4349496" cy="49575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446530">
              <a:lnSpc>
                <a:spcPct val="100000"/>
              </a:lnSpc>
              <a:spcBef>
                <a:spcPts val="114"/>
              </a:spcBef>
            </a:pPr>
            <a:r>
              <a:rPr sz="2300" spc="-10" dirty="0"/>
              <a:t>Site</a:t>
            </a:r>
            <a:r>
              <a:rPr sz="2300" spc="-85" dirty="0"/>
              <a:t> </a:t>
            </a:r>
            <a:r>
              <a:rPr sz="2300" spc="-10" dirty="0"/>
              <a:t>Administration</a:t>
            </a:r>
            <a:endParaRPr sz="2300"/>
          </a:p>
        </p:txBody>
      </p:sp>
      <p:sp>
        <p:nvSpPr>
          <p:cNvPr id="3" name="object 3"/>
          <p:cNvSpPr txBox="1"/>
          <p:nvPr/>
        </p:nvSpPr>
        <p:spPr>
          <a:xfrm>
            <a:off x="1287205" y="2771628"/>
            <a:ext cx="4023360" cy="2948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8920" marR="5080" indent="-236854">
              <a:lnSpc>
                <a:spcPct val="102400"/>
              </a:lnSpc>
              <a:spcBef>
                <a:spcPts val="95"/>
              </a:spcBef>
              <a:buClr>
                <a:srgbClr val="1187C3"/>
              </a:buClr>
              <a:buSzPct val="148275"/>
              <a:buFont typeface="Arial MT"/>
              <a:buChar char="•"/>
              <a:tabLst>
                <a:tab pos="248920" algn="l"/>
              </a:tabLst>
            </a:pPr>
            <a:r>
              <a:rPr sz="1450" dirty="0">
                <a:latin typeface="Corbel"/>
                <a:cs typeface="Corbel"/>
              </a:rPr>
              <a:t>Displays</a:t>
            </a:r>
            <a:r>
              <a:rPr sz="1450" spc="6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borrowed</a:t>
            </a:r>
            <a:r>
              <a:rPr sz="1450" spc="9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books,</a:t>
            </a:r>
            <a:r>
              <a:rPr sz="1450" spc="10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pending</a:t>
            </a:r>
            <a:r>
              <a:rPr sz="1450" spc="4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requests,</a:t>
            </a:r>
            <a:r>
              <a:rPr sz="1450" spc="60" dirty="0">
                <a:latin typeface="Corbel"/>
                <a:cs typeface="Corbel"/>
              </a:rPr>
              <a:t> </a:t>
            </a:r>
            <a:r>
              <a:rPr sz="1450" spc="-25" dirty="0">
                <a:latin typeface="Corbel"/>
                <a:cs typeface="Corbel"/>
              </a:rPr>
              <a:t>and </a:t>
            </a:r>
            <a:r>
              <a:rPr sz="1450" dirty="0">
                <a:latin typeface="Corbel"/>
                <a:cs typeface="Corbel"/>
              </a:rPr>
              <a:t>borrowing</a:t>
            </a:r>
            <a:r>
              <a:rPr sz="1450" spc="4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history</a:t>
            </a:r>
            <a:r>
              <a:rPr sz="1450" spc="4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with</a:t>
            </a:r>
            <a:r>
              <a:rPr sz="1450" spc="5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quick</a:t>
            </a:r>
            <a:r>
              <a:rPr sz="1450" spc="7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access</a:t>
            </a:r>
            <a:r>
              <a:rPr sz="1450" spc="6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to</a:t>
            </a:r>
            <a:r>
              <a:rPr sz="1450" spc="55" dirty="0">
                <a:latin typeface="Corbel"/>
                <a:cs typeface="Corbel"/>
              </a:rPr>
              <a:t> </a:t>
            </a:r>
            <a:r>
              <a:rPr sz="1450" spc="-10" dirty="0">
                <a:latin typeface="Corbel"/>
                <a:cs typeface="Corbel"/>
              </a:rPr>
              <a:t>browse books.</a:t>
            </a:r>
            <a:endParaRPr sz="1450">
              <a:latin typeface="Corbel"/>
              <a:cs typeface="Corbel"/>
            </a:endParaRPr>
          </a:p>
          <a:p>
            <a:pPr marL="248920" marR="54610" indent="-236854">
              <a:lnSpc>
                <a:spcPct val="102699"/>
              </a:lnSpc>
              <a:spcBef>
                <a:spcPts val="840"/>
              </a:spcBef>
              <a:buClr>
                <a:srgbClr val="1187C3"/>
              </a:buClr>
              <a:buSzPct val="148275"/>
              <a:buFont typeface="Arial MT"/>
              <a:buChar char="•"/>
              <a:tabLst>
                <a:tab pos="248920" algn="l"/>
              </a:tabLst>
            </a:pPr>
            <a:r>
              <a:rPr sz="1450" dirty="0">
                <a:latin typeface="Corbel"/>
                <a:cs typeface="Corbel"/>
              </a:rPr>
              <a:t>Shows</a:t>
            </a:r>
            <a:r>
              <a:rPr sz="1450" spc="13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borrowed</a:t>
            </a:r>
            <a:r>
              <a:rPr sz="1450" spc="80" dirty="0">
                <a:latin typeface="Corbel"/>
                <a:cs typeface="Corbel"/>
              </a:rPr>
              <a:t> </a:t>
            </a:r>
            <a:r>
              <a:rPr sz="1450" b="1" dirty="0">
                <a:latin typeface="Corbel"/>
                <a:cs typeface="Corbel"/>
              </a:rPr>
              <a:t>books</a:t>
            </a:r>
            <a:r>
              <a:rPr sz="1450" dirty="0">
                <a:latin typeface="Corbel"/>
                <a:cs typeface="Corbel"/>
              </a:rPr>
              <a:t>,</a:t>
            </a:r>
            <a:r>
              <a:rPr sz="1450" spc="75" dirty="0">
                <a:latin typeface="Corbel"/>
                <a:cs typeface="Corbel"/>
              </a:rPr>
              <a:t> </a:t>
            </a:r>
            <a:r>
              <a:rPr sz="1450" b="1" dirty="0">
                <a:latin typeface="Corbel"/>
                <a:cs typeface="Corbel"/>
              </a:rPr>
              <a:t>pending</a:t>
            </a:r>
            <a:r>
              <a:rPr sz="1450" b="1" spc="95" dirty="0">
                <a:latin typeface="Corbel"/>
                <a:cs typeface="Corbel"/>
              </a:rPr>
              <a:t> </a:t>
            </a:r>
            <a:r>
              <a:rPr sz="1450" b="1" dirty="0">
                <a:latin typeface="Corbel"/>
                <a:cs typeface="Corbel"/>
              </a:rPr>
              <a:t>requests</a:t>
            </a:r>
            <a:r>
              <a:rPr sz="1450" dirty="0">
                <a:latin typeface="Corbel"/>
                <a:cs typeface="Corbel"/>
              </a:rPr>
              <a:t>,</a:t>
            </a:r>
            <a:r>
              <a:rPr sz="1450" spc="55" dirty="0">
                <a:latin typeface="Corbel"/>
                <a:cs typeface="Corbel"/>
              </a:rPr>
              <a:t> </a:t>
            </a:r>
            <a:r>
              <a:rPr sz="1450" spc="-25" dirty="0">
                <a:latin typeface="Corbel"/>
                <a:cs typeface="Corbel"/>
              </a:rPr>
              <a:t>and </a:t>
            </a:r>
            <a:r>
              <a:rPr sz="1450" dirty="0">
                <a:latin typeface="Corbel"/>
                <a:cs typeface="Corbel"/>
              </a:rPr>
              <a:t>borrowing</a:t>
            </a:r>
            <a:r>
              <a:rPr sz="1450" spc="4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history</a:t>
            </a:r>
            <a:r>
              <a:rPr sz="1450" spc="4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in</a:t>
            </a:r>
            <a:r>
              <a:rPr sz="1450" spc="6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a</a:t>
            </a:r>
            <a:r>
              <a:rPr sz="1450" spc="5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clean</a:t>
            </a:r>
            <a:r>
              <a:rPr sz="1450" spc="65" dirty="0">
                <a:latin typeface="Corbel"/>
                <a:cs typeface="Corbel"/>
              </a:rPr>
              <a:t> </a:t>
            </a:r>
            <a:r>
              <a:rPr sz="1450" spc="-20" dirty="0">
                <a:latin typeface="Corbel"/>
                <a:cs typeface="Corbel"/>
              </a:rPr>
              <a:t>view.</a:t>
            </a:r>
            <a:endParaRPr sz="1450">
              <a:latin typeface="Corbel"/>
              <a:cs typeface="Corbel"/>
            </a:endParaRPr>
          </a:p>
          <a:p>
            <a:pPr marL="248920" marR="335915" indent="-236854">
              <a:lnSpc>
                <a:spcPct val="102800"/>
              </a:lnSpc>
              <a:spcBef>
                <a:spcPts val="840"/>
              </a:spcBef>
              <a:buClr>
                <a:srgbClr val="1187C3"/>
              </a:buClr>
              <a:buSzPct val="148275"/>
              <a:buFont typeface="Arial MT"/>
              <a:buChar char="•"/>
              <a:tabLst>
                <a:tab pos="248920" algn="l"/>
              </a:tabLst>
            </a:pPr>
            <a:r>
              <a:rPr sz="1450" dirty="0">
                <a:latin typeface="Corbel"/>
                <a:cs typeface="Corbel"/>
              </a:rPr>
              <a:t>Admin</a:t>
            </a:r>
            <a:r>
              <a:rPr sz="1450" spc="3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can</a:t>
            </a:r>
            <a:r>
              <a:rPr sz="1450" spc="75" dirty="0">
                <a:latin typeface="Corbel"/>
                <a:cs typeface="Corbel"/>
              </a:rPr>
              <a:t> </a:t>
            </a:r>
            <a:r>
              <a:rPr sz="1450" b="1" dirty="0">
                <a:latin typeface="Corbel"/>
                <a:cs typeface="Corbel"/>
              </a:rPr>
              <a:t>view</a:t>
            </a:r>
            <a:r>
              <a:rPr sz="1450" dirty="0">
                <a:latin typeface="Corbel"/>
                <a:cs typeface="Corbel"/>
              </a:rPr>
              <a:t>,</a:t>
            </a:r>
            <a:r>
              <a:rPr sz="1450" spc="55" dirty="0">
                <a:latin typeface="Corbel"/>
                <a:cs typeface="Corbel"/>
              </a:rPr>
              <a:t> </a:t>
            </a:r>
            <a:r>
              <a:rPr sz="1450" b="1" dirty="0">
                <a:latin typeface="Corbel"/>
                <a:cs typeface="Corbel"/>
              </a:rPr>
              <a:t>filter</a:t>
            </a:r>
            <a:r>
              <a:rPr sz="1450" dirty="0">
                <a:latin typeface="Corbel"/>
                <a:cs typeface="Corbel"/>
              </a:rPr>
              <a:t>,</a:t>
            </a:r>
            <a:r>
              <a:rPr sz="1450" spc="4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and</a:t>
            </a:r>
            <a:r>
              <a:rPr sz="1450" spc="7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manage</a:t>
            </a:r>
            <a:r>
              <a:rPr sz="1450" spc="5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all</a:t>
            </a:r>
            <a:r>
              <a:rPr sz="1450" spc="55" dirty="0">
                <a:latin typeface="Corbel"/>
                <a:cs typeface="Corbel"/>
              </a:rPr>
              <a:t> </a:t>
            </a:r>
            <a:r>
              <a:rPr sz="1450" spc="-20" dirty="0">
                <a:latin typeface="Corbel"/>
                <a:cs typeface="Corbel"/>
              </a:rPr>
              <a:t>book </a:t>
            </a:r>
            <a:r>
              <a:rPr sz="1450" dirty="0">
                <a:latin typeface="Corbel"/>
                <a:cs typeface="Corbel"/>
              </a:rPr>
              <a:t>transactions</a:t>
            </a:r>
            <a:r>
              <a:rPr sz="1450" spc="6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with</a:t>
            </a:r>
            <a:r>
              <a:rPr sz="1450" spc="7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student</a:t>
            </a:r>
            <a:r>
              <a:rPr sz="1450" spc="10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and</a:t>
            </a:r>
            <a:r>
              <a:rPr sz="1450" spc="6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book</a:t>
            </a:r>
            <a:r>
              <a:rPr sz="1450" spc="80" dirty="0">
                <a:latin typeface="Corbel"/>
                <a:cs typeface="Corbel"/>
              </a:rPr>
              <a:t> </a:t>
            </a:r>
            <a:r>
              <a:rPr sz="1450" spc="-10" dirty="0">
                <a:latin typeface="Corbel"/>
                <a:cs typeface="Corbel"/>
              </a:rPr>
              <a:t>details.</a:t>
            </a:r>
            <a:endParaRPr sz="1450">
              <a:latin typeface="Corbel"/>
              <a:cs typeface="Corbel"/>
            </a:endParaRPr>
          </a:p>
          <a:p>
            <a:pPr marL="248920" marR="297815" indent="-236854">
              <a:lnSpc>
                <a:spcPct val="102699"/>
              </a:lnSpc>
              <a:spcBef>
                <a:spcPts val="840"/>
              </a:spcBef>
              <a:buClr>
                <a:srgbClr val="1187C3"/>
              </a:buClr>
              <a:buSzPct val="148275"/>
              <a:buFont typeface="Arial MT"/>
              <a:buChar char="•"/>
              <a:tabLst>
                <a:tab pos="248920" algn="l"/>
              </a:tabLst>
            </a:pPr>
            <a:r>
              <a:rPr sz="1450" dirty="0">
                <a:latin typeface="Corbel"/>
                <a:cs typeface="Corbel"/>
              </a:rPr>
              <a:t>Allows</a:t>
            </a:r>
            <a:r>
              <a:rPr sz="1450" spc="3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admin</a:t>
            </a:r>
            <a:r>
              <a:rPr sz="1450" spc="4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to</a:t>
            </a:r>
            <a:r>
              <a:rPr sz="1450" spc="5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issue</a:t>
            </a:r>
            <a:r>
              <a:rPr sz="1450" spc="6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new</a:t>
            </a:r>
            <a:r>
              <a:rPr sz="1450" spc="7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books</a:t>
            </a:r>
            <a:r>
              <a:rPr sz="1450" spc="7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quickly</a:t>
            </a:r>
            <a:r>
              <a:rPr sz="1450" spc="45" dirty="0">
                <a:latin typeface="Corbel"/>
                <a:cs typeface="Corbel"/>
              </a:rPr>
              <a:t> </a:t>
            </a:r>
            <a:r>
              <a:rPr sz="1450" spc="-25" dirty="0">
                <a:latin typeface="Corbel"/>
                <a:cs typeface="Corbel"/>
              </a:rPr>
              <a:t>and </a:t>
            </a:r>
            <a:r>
              <a:rPr sz="1450" dirty="0">
                <a:latin typeface="Corbel"/>
                <a:cs typeface="Corbel"/>
              </a:rPr>
              <a:t>track</a:t>
            </a:r>
            <a:r>
              <a:rPr sz="1450" spc="6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borrowing</a:t>
            </a:r>
            <a:r>
              <a:rPr sz="1450" spc="8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status</a:t>
            </a:r>
            <a:r>
              <a:rPr sz="1450" spc="90" dirty="0">
                <a:latin typeface="Corbel"/>
                <a:cs typeface="Corbel"/>
              </a:rPr>
              <a:t> </a:t>
            </a:r>
            <a:r>
              <a:rPr sz="1450" spc="-10" dirty="0">
                <a:latin typeface="Corbel"/>
                <a:cs typeface="Corbel"/>
              </a:rPr>
              <a:t>efficiently.</a:t>
            </a:r>
            <a:endParaRPr sz="1450">
              <a:latin typeface="Corbel"/>
              <a:cs typeface="Corbel"/>
            </a:endParaRPr>
          </a:p>
          <a:p>
            <a:pPr marL="248920" marR="242570" indent="-236854">
              <a:lnSpc>
                <a:spcPct val="102800"/>
              </a:lnSpc>
              <a:spcBef>
                <a:spcPts val="840"/>
              </a:spcBef>
              <a:buClr>
                <a:srgbClr val="1187C3"/>
              </a:buClr>
              <a:buSzPct val="148275"/>
              <a:buFont typeface="Arial MT"/>
              <a:buChar char="•"/>
              <a:tabLst>
                <a:tab pos="248920" algn="l"/>
              </a:tabLst>
            </a:pPr>
            <a:r>
              <a:rPr sz="1450" dirty="0">
                <a:latin typeface="Corbel"/>
                <a:cs typeface="Corbel"/>
              </a:rPr>
              <a:t>Admin</a:t>
            </a:r>
            <a:r>
              <a:rPr sz="1450" spc="35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can</a:t>
            </a:r>
            <a:r>
              <a:rPr sz="1450" spc="75" dirty="0">
                <a:latin typeface="Corbel"/>
                <a:cs typeface="Corbel"/>
              </a:rPr>
              <a:t> </a:t>
            </a:r>
            <a:r>
              <a:rPr sz="1450" b="1" dirty="0">
                <a:latin typeface="Corbel"/>
                <a:cs typeface="Corbel"/>
              </a:rPr>
              <a:t>track</a:t>
            </a:r>
            <a:r>
              <a:rPr sz="1450" dirty="0">
                <a:latin typeface="Corbel"/>
                <a:cs typeface="Corbel"/>
              </a:rPr>
              <a:t>,</a:t>
            </a:r>
            <a:r>
              <a:rPr sz="1450" spc="45" dirty="0">
                <a:latin typeface="Corbel"/>
                <a:cs typeface="Corbel"/>
              </a:rPr>
              <a:t> </a:t>
            </a:r>
            <a:r>
              <a:rPr sz="1450" b="1" dirty="0">
                <a:latin typeface="Corbel"/>
                <a:cs typeface="Corbel"/>
              </a:rPr>
              <a:t>filter</a:t>
            </a:r>
            <a:r>
              <a:rPr sz="1450" dirty="0">
                <a:latin typeface="Corbel"/>
                <a:cs typeface="Corbel"/>
              </a:rPr>
              <a:t>,</a:t>
            </a:r>
            <a:r>
              <a:rPr sz="1450" spc="40" dirty="0">
                <a:latin typeface="Corbel"/>
                <a:cs typeface="Corbel"/>
              </a:rPr>
              <a:t> </a:t>
            </a:r>
            <a:r>
              <a:rPr sz="1450" dirty="0">
                <a:latin typeface="Corbel"/>
                <a:cs typeface="Corbel"/>
              </a:rPr>
              <a:t>and</a:t>
            </a:r>
            <a:r>
              <a:rPr sz="1450" spc="75" dirty="0">
                <a:latin typeface="Corbel"/>
                <a:cs typeface="Corbel"/>
              </a:rPr>
              <a:t> </a:t>
            </a:r>
            <a:r>
              <a:rPr sz="1450" b="1" dirty="0">
                <a:latin typeface="Corbel"/>
                <a:cs typeface="Corbel"/>
              </a:rPr>
              <a:t>manage</a:t>
            </a:r>
            <a:r>
              <a:rPr sz="1450" b="1" spc="50" dirty="0">
                <a:latin typeface="Corbel"/>
                <a:cs typeface="Corbel"/>
              </a:rPr>
              <a:t> </a:t>
            </a:r>
            <a:r>
              <a:rPr sz="1450" b="1" dirty="0">
                <a:latin typeface="Corbel"/>
                <a:cs typeface="Corbel"/>
              </a:rPr>
              <a:t>all</a:t>
            </a:r>
            <a:r>
              <a:rPr sz="1450" b="1" spc="55" dirty="0">
                <a:latin typeface="Corbel"/>
                <a:cs typeface="Corbel"/>
              </a:rPr>
              <a:t> </a:t>
            </a:r>
            <a:r>
              <a:rPr sz="1450" b="1" spc="-20" dirty="0">
                <a:latin typeface="Corbel"/>
                <a:cs typeface="Corbel"/>
              </a:rPr>
              <a:t>book </a:t>
            </a:r>
            <a:r>
              <a:rPr sz="1450" b="1" dirty="0">
                <a:latin typeface="Corbel"/>
                <a:cs typeface="Corbel"/>
              </a:rPr>
              <a:t>transactions</a:t>
            </a:r>
            <a:r>
              <a:rPr sz="1450" b="1" spc="135" dirty="0">
                <a:latin typeface="Corbel"/>
                <a:cs typeface="Corbel"/>
              </a:rPr>
              <a:t> </a:t>
            </a:r>
            <a:r>
              <a:rPr sz="1450" spc="-10" dirty="0">
                <a:latin typeface="Corbel"/>
                <a:cs typeface="Corbel"/>
              </a:rPr>
              <a:t>easily.</a:t>
            </a:r>
            <a:endParaRPr sz="1450">
              <a:latin typeface="Corbel"/>
              <a:cs typeface="Corbe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78779" y="1589532"/>
            <a:ext cx="4579619" cy="46085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738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20" dirty="0"/>
              <a:t>Code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73496" y="1802892"/>
            <a:ext cx="4184903" cy="38862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135"/>
              </a:spcBef>
              <a:buChar char="•"/>
              <a:tabLst>
                <a:tab pos="248285" algn="l"/>
              </a:tabLst>
            </a:pPr>
            <a:r>
              <a:rPr dirty="0"/>
              <a:t>Designed</a:t>
            </a:r>
            <a:r>
              <a:rPr spc="25" dirty="0"/>
              <a:t> </a:t>
            </a:r>
            <a:r>
              <a:rPr dirty="0"/>
              <a:t>a</a:t>
            </a:r>
            <a:r>
              <a:rPr spc="55" dirty="0"/>
              <a:t> </a:t>
            </a:r>
            <a:r>
              <a:rPr dirty="0"/>
              <a:t>clean</a:t>
            </a:r>
            <a:r>
              <a:rPr b="1" dirty="0">
                <a:latin typeface="Arial"/>
                <a:cs typeface="Arial"/>
              </a:rPr>
              <a:t>,</a:t>
            </a:r>
            <a:r>
              <a:rPr b="1" spc="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mobile-friendly</a:t>
            </a:r>
            <a:r>
              <a:rPr b="1" spc="70" dirty="0">
                <a:latin typeface="Arial"/>
                <a:cs typeface="Arial"/>
              </a:rPr>
              <a:t> </a:t>
            </a:r>
            <a:r>
              <a:rPr dirty="0"/>
              <a:t>login</a:t>
            </a:r>
            <a:r>
              <a:rPr spc="45" dirty="0"/>
              <a:t> </a:t>
            </a:r>
            <a:r>
              <a:rPr dirty="0"/>
              <a:t>page</a:t>
            </a:r>
            <a:r>
              <a:rPr spc="55" dirty="0"/>
              <a:t> </a:t>
            </a:r>
            <a:r>
              <a:rPr dirty="0"/>
              <a:t>using</a:t>
            </a:r>
            <a:r>
              <a:rPr spc="45" dirty="0"/>
              <a:t> </a:t>
            </a:r>
            <a:r>
              <a:rPr spc="-10" dirty="0"/>
              <a:t>Bootstrap.</a:t>
            </a:r>
          </a:p>
          <a:p>
            <a:pPr>
              <a:lnSpc>
                <a:spcPct val="100000"/>
              </a:lnSpc>
              <a:spcBef>
                <a:spcPts val="155"/>
              </a:spcBef>
              <a:buFont typeface="Arial MT"/>
              <a:buChar char="•"/>
            </a:pPr>
            <a:endParaRPr spc="-10" dirty="0"/>
          </a:p>
          <a:p>
            <a:pPr marL="248285" indent="-235585">
              <a:lnSpc>
                <a:spcPct val="100000"/>
              </a:lnSpc>
              <a:spcBef>
                <a:spcPts val="5"/>
              </a:spcBef>
              <a:buChar char="•"/>
              <a:tabLst>
                <a:tab pos="248285" algn="l"/>
              </a:tabLst>
            </a:pPr>
            <a:r>
              <a:rPr dirty="0"/>
              <a:t>Provides</a:t>
            </a:r>
            <a:r>
              <a:rPr spc="35" dirty="0"/>
              <a:t> </a:t>
            </a:r>
            <a:r>
              <a:rPr dirty="0"/>
              <a:t>a</a:t>
            </a:r>
            <a:r>
              <a:rPr spc="45" dirty="0"/>
              <a:t> </a:t>
            </a:r>
            <a:r>
              <a:rPr dirty="0"/>
              <a:t>smooth</a:t>
            </a:r>
            <a:r>
              <a:rPr spc="40" dirty="0"/>
              <a:t> </a:t>
            </a:r>
            <a:r>
              <a:rPr dirty="0"/>
              <a:t>and</a:t>
            </a:r>
            <a:r>
              <a:rPr spc="45" dirty="0"/>
              <a:t> </a:t>
            </a:r>
            <a:r>
              <a:rPr dirty="0"/>
              <a:t>simple</a:t>
            </a:r>
            <a:r>
              <a:rPr spc="40" dirty="0"/>
              <a:t> </a:t>
            </a:r>
            <a:r>
              <a:rPr dirty="0"/>
              <a:t>user</a:t>
            </a:r>
            <a:r>
              <a:rPr spc="35" dirty="0"/>
              <a:t> </a:t>
            </a:r>
            <a:r>
              <a:rPr spc="-10" dirty="0"/>
              <a:t>experience.</a:t>
            </a:r>
          </a:p>
          <a:p>
            <a:pPr>
              <a:lnSpc>
                <a:spcPct val="100000"/>
              </a:lnSpc>
              <a:spcBef>
                <a:spcPts val="155"/>
              </a:spcBef>
              <a:buFont typeface="Arial MT"/>
              <a:buChar char="•"/>
            </a:pPr>
            <a:endParaRPr spc="-10" dirty="0"/>
          </a:p>
          <a:p>
            <a:pPr marL="248285" indent="-235585">
              <a:lnSpc>
                <a:spcPct val="100000"/>
              </a:lnSpc>
              <a:buFont typeface="Arial MT"/>
              <a:buChar char="•"/>
              <a:tabLst>
                <a:tab pos="248285" algn="l"/>
              </a:tabLst>
            </a:pPr>
            <a:r>
              <a:rPr b="1" dirty="0">
                <a:latin typeface="Arial"/>
                <a:cs typeface="Arial"/>
              </a:rPr>
              <a:t>CSRF</a:t>
            </a:r>
            <a:r>
              <a:rPr b="1" spc="35" dirty="0">
                <a:latin typeface="Arial"/>
                <a:cs typeface="Arial"/>
              </a:rPr>
              <a:t> </a:t>
            </a:r>
            <a:r>
              <a:rPr dirty="0"/>
              <a:t>token</a:t>
            </a:r>
            <a:r>
              <a:rPr spc="55" dirty="0"/>
              <a:t> </a:t>
            </a:r>
            <a:r>
              <a:rPr dirty="0"/>
              <a:t>included</a:t>
            </a:r>
            <a:r>
              <a:rPr spc="20" dirty="0"/>
              <a:t> </a:t>
            </a:r>
            <a:r>
              <a:rPr dirty="0"/>
              <a:t>for</a:t>
            </a:r>
            <a:r>
              <a:rPr spc="60" dirty="0"/>
              <a:t> </a:t>
            </a:r>
            <a:r>
              <a:rPr dirty="0"/>
              <a:t>secure</a:t>
            </a:r>
            <a:r>
              <a:rPr spc="55" dirty="0"/>
              <a:t> </a:t>
            </a:r>
            <a:r>
              <a:rPr dirty="0"/>
              <a:t>form</a:t>
            </a:r>
            <a:r>
              <a:rPr spc="45" dirty="0"/>
              <a:t> </a:t>
            </a:r>
            <a:r>
              <a:rPr spc="-10" dirty="0"/>
              <a:t>submissions.</a:t>
            </a:r>
          </a:p>
          <a:p>
            <a:pPr>
              <a:lnSpc>
                <a:spcPct val="100000"/>
              </a:lnSpc>
              <a:spcBef>
                <a:spcPts val="155"/>
              </a:spcBef>
              <a:buFont typeface="Arial MT"/>
              <a:buChar char="•"/>
            </a:pPr>
            <a:endParaRPr spc="-10" dirty="0"/>
          </a:p>
          <a:p>
            <a:pPr marL="248285" indent="-235585">
              <a:lnSpc>
                <a:spcPct val="100000"/>
              </a:lnSpc>
              <a:buChar char="•"/>
              <a:tabLst>
                <a:tab pos="248285" algn="l"/>
              </a:tabLst>
            </a:pPr>
            <a:r>
              <a:rPr dirty="0"/>
              <a:t>Validates</a:t>
            </a:r>
            <a:r>
              <a:rPr spc="15" dirty="0"/>
              <a:t> </a:t>
            </a:r>
            <a:r>
              <a:rPr b="1" dirty="0">
                <a:latin typeface="Arial"/>
                <a:cs typeface="Arial"/>
              </a:rPr>
              <a:t>username</a:t>
            </a:r>
            <a:r>
              <a:rPr b="1" spc="35" dirty="0">
                <a:latin typeface="Arial"/>
                <a:cs typeface="Arial"/>
              </a:rPr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b="1" dirty="0">
                <a:latin typeface="Arial"/>
                <a:cs typeface="Arial"/>
              </a:rPr>
              <a:t>password</a:t>
            </a:r>
            <a:r>
              <a:rPr b="1" spc="20" dirty="0">
                <a:latin typeface="Arial"/>
                <a:cs typeface="Arial"/>
              </a:rPr>
              <a:t> </a:t>
            </a:r>
            <a:r>
              <a:rPr dirty="0"/>
              <a:t>with</a:t>
            </a:r>
            <a:r>
              <a:rPr spc="60" dirty="0"/>
              <a:t> </a:t>
            </a:r>
            <a:r>
              <a:rPr dirty="0"/>
              <a:t>error</a:t>
            </a:r>
            <a:r>
              <a:rPr spc="55" dirty="0"/>
              <a:t> </a:t>
            </a:r>
            <a:r>
              <a:rPr spc="-10" dirty="0"/>
              <a:t>display.</a:t>
            </a:r>
          </a:p>
          <a:p>
            <a:pPr>
              <a:lnSpc>
                <a:spcPct val="100000"/>
              </a:lnSpc>
              <a:spcBef>
                <a:spcPts val="155"/>
              </a:spcBef>
              <a:buFont typeface="Arial MT"/>
              <a:buChar char="•"/>
            </a:pPr>
            <a:endParaRPr spc="-10" dirty="0"/>
          </a:p>
          <a:p>
            <a:pPr marL="248285" indent="-235585">
              <a:lnSpc>
                <a:spcPct val="100000"/>
              </a:lnSpc>
              <a:spcBef>
                <a:spcPts val="5"/>
              </a:spcBef>
              <a:buChar char="•"/>
              <a:tabLst>
                <a:tab pos="248285" algn="l"/>
              </a:tabLst>
            </a:pPr>
            <a:r>
              <a:rPr dirty="0"/>
              <a:t>Used</a:t>
            </a:r>
            <a:r>
              <a:rPr spc="50" dirty="0"/>
              <a:t> </a:t>
            </a:r>
            <a:r>
              <a:rPr b="1" dirty="0">
                <a:latin typeface="Arial"/>
                <a:cs typeface="Arial"/>
              </a:rPr>
              <a:t>Django’s</a:t>
            </a:r>
            <a:r>
              <a:rPr b="1" spc="3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template</a:t>
            </a:r>
            <a:r>
              <a:rPr b="1" spc="75" dirty="0">
                <a:latin typeface="Arial"/>
                <a:cs typeface="Arial"/>
              </a:rPr>
              <a:t> </a:t>
            </a:r>
            <a:r>
              <a:rPr dirty="0"/>
              <a:t>inheritance</a:t>
            </a:r>
            <a:r>
              <a:rPr spc="20" dirty="0"/>
              <a:t> </a:t>
            </a:r>
            <a:r>
              <a:rPr dirty="0"/>
              <a:t>from</a:t>
            </a:r>
            <a:r>
              <a:rPr spc="80" dirty="0"/>
              <a:t> </a:t>
            </a:r>
            <a:r>
              <a:rPr spc="-10" dirty="0"/>
              <a:t>base.html</a:t>
            </a: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pc="-10" dirty="0"/>
          </a:p>
          <a:p>
            <a:pPr marL="248285" indent="-235585">
              <a:lnSpc>
                <a:spcPct val="100000"/>
              </a:lnSpc>
              <a:buFont typeface="Arial MT"/>
              <a:buChar char="•"/>
              <a:tabLst>
                <a:tab pos="248285" algn="l"/>
              </a:tabLst>
            </a:pPr>
            <a:r>
              <a:rPr dirty="0">
                <a:latin typeface="Corbel"/>
                <a:cs typeface="Corbel"/>
              </a:rPr>
              <a:t>Ensures</a:t>
            </a:r>
            <a:r>
              <a:rPr spc="60" dirty="0">
                <a:latin typeface="Corbel"/>
                <a:cs typeface="Corbel"/>
              </a:rPr>
              <a:t> </a:t>
            </a:r>
            <a:r>
              <a:rPr dirty="0">
                <a:latin typeface="Corbel"/>
                <a:cs typeface="Corbel"/>
              </a:rPr>
              <a:t>layout</a:t>
            </a:r>
            <a:r>
              <a:rPr spc="80" dirty="0">
                <a:latin typeface="Corbel"/>
                <a:cs typeface="Corbel"/>
              </a:rPr>
              <a:t> </a:t>
            </a:r>
            <a:r>
              <a:rPr dirty="0">
                <a:latin typeface="Corbel"/>
                <a:cs typeface="Corbel"/>
              </a:rPr>
              <a:t>consistency</a:t>
            </a:r>
            <a:r>
              <a:rPr spc="70" dirty="0">
                <a:latin typeface="Corbel"/>
                <a:cs typeface="Corbel"/>
              </a:rPr>
              <a:t> </a:t>
            </a:r>
            <a:r>
              <a:rPr dirty="0">
                <a:latin typeface="Corbel"/>
                <a:cs typeface="Corbel"/>
              </a:rPr>
              <a:t>across</a:t>
            </a:r>
            <a:r>
              <a:rPr spc="65" dirty="0">
                <a:latin typeface="Corbel"/>
                <a:cs typeface="Corbel"/>
              </a:rPr>
              <a:t> </a:t>
            </a:r>
            <a:r>
              <a:rPr dirty="0">
                <a:latin typeface="Corbel"/>
                <a:cs typeface="Corbel"/>
              </a:rPr>
              <a:t>all</a:t>
            </a:r>
            <a:r>
              <a:rPr spc="65" dirty="0">
                <a:latin typeface="Corbel"/>
                <a:cs typeface="Corbel"/>
              </a:rPr>
              <a:t> </a:t>
            </a:r>
            <a:r>
              <a:rPr dirty="0">
                <a:latin typeface="Corbel"/>
                <a:cs typeface="Corbel"/>
              </a:rPr>
              <a:t>project</a:t>
            </a:r>
            <a:r>
              <a:rPr spc="40" dirty="0">
                <a:latin typeface="Corbel"/>
                <a:cs typeface="Corbel"/>
              </a:rPr>
              <a:t> </a:t>
            </a:r>
            <a:r>
              <a:rPr spc="-10" dirty="0">
                <a:latin typeface="Corbel"/>
                <a:cs typeface="Corbel"/>
              </a:rPr>
              <a:t>pages.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655"/>
            <a:ext cx="10058400" cy="56586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482</Words>
  <Application>Microsoft Office PowerPoint</Application>
  <PresentationFormat>Custom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Arial MT</vt:lpstr>
      <vt:lpstr>Corbel</vt:lpstr>
      <vt:lpstr>Office Theme</vt:lpstr>
      <vt:lpstr>Summer Online internship web development using Django</vt:lpstr>
      <vt:lpstr>contains</vt:lpstr>
      <vt:lpstr>Home Page</vt:lpstr>
      <vt:lpstr>Login Page</vt:lpstr>
      <vt:lpstr>Admin Administration</vt:lpstr>
      <vt:lpstr>View Books</vt:lpstr>
      <vt:lpstr>Site Administration</vt:lpstr>
      <vt:lpstr>Code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Presentation 4</dc:title>
  <dc:creator>B Ganesh</dc:creator>
  <cp:lastModifiedBy>meda jyothsna</cp:lastModifiedBy>
  <cp:revision>3</cp:revision>
  <dcterms:created xsi:type="dcterms:W3CDTF">2025-07-24T05:54:03Z</dcterms:created>
  <dcterms:modified xsi:type="dcterms:W3CDTF">2025-11-24T13:02:05Z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2025-07-08T00:00:00Z</vt:filetime>
  </property>
  <property fmtid="{D5CDD505-2E9C-101B-9397-08002B2CF9AE}" pid="3" name="LastSaved">
    <vt:filetime>2025-07-24T00:00:00Z</vt:filetime>
  </property>
  <property fmtid="{D5CDD505-2E9C-101B-9397-08002B2CF9AE}" pid="4" name="Producer">
    <vt:lpwstr>Microsoft: Print To PDF</vt:lpwstr>
  </property>
</Properties>
</file>